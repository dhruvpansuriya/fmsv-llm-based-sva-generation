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1400" u="none" kumimoji="0" normalizeH="0">
        <a:ln>
          <a:noFill/>
        </a:ln>
        <a:solidFill>
          <a:srgbClr val="2A3990"/>
        </a:solidFill>
        <a:effectLst/>
        <a:uFillTx/>
        <a:latin typeface="+mn-lt"/>
        <a:ea typeface="+mn-ea"/>
        <a:cs typeface="+mn-cs"/>
        <a:sym typeface="Trebuchet MS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1400" u="none" kumimoji="0" normalizeH="0">
        <a:ln>
          <a:noFill/>
        </a:ln>
        <a:solidFill>
          <a:srgbClr val="2A3990"/>
        </a:solidFill>
        <a:effectLst/>
        <a:uFillTx/>
        <a:latin typeface="+mn-lt"/>
        <a:ea typeface="+mn-ea"/>
        <a:cs typeface="+mn-cs"/>
        <a:sym typeface="Trebuchet MS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1400" u="none" kumimoji="0" normalizeH="0">
        <a:ln>
          <a:noFill/>
        </a:ln>
        <a:solidFill>
          <a:srgbClr val="2A3990"/>
        </a:solidFill>
        <a:effectLst/>
        <a:uFillTx/>
        <a:latin typeface="+mn-lt"/>
        <a:ea typeface="+mn-ea"/>
        <a:cs typeface="+mn-cs"/>
        <a:sym typeface="Trebuchet MS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1400" u="none" kumimoji="0" normalizeH="0">
        <a:ln>
          <a:noFill/>
        </a:ln>
        <a:solidFill>
          <a:srgbClr val="2A3990"/>
        </a:solidFill>
        <a:effectLst/>
        <a:uFillTx/>
        <a:latin typeface="+mn-lt"/>
        <a:ea typeface="+mn-ea"/>
        <a:cs typeface="+mn-cs"/>
        <a:sym typeface="Trebuchet MS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1400" u="none" kumimoji="0" normalizeH="0">
        <a:ln>
          <a:noFill/>
        </a:ln>
        <a:solidFill>
          <a:srgbClr val="2A3990"/>
        </a:solidFill>
        <a:effectLst/>
        <a:uFillTx/>
        <a:latin typeface="+mn-lt"/>
        <a:ea typeface="+mn-ea"/>
        <a:cs typeface="+mn-cs"/>
        <a:sym typeface="Trebuchet M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1400" u="none" kumimoji="0" normalizeH="0">
        <a:ln>
          <a:noFill/>
        </a:ln>
        <a:solidFill>
          <a:srgbClr val="2A3990"/>
        </a:solidFill>
        <a:effectLst/>
        <a:uFillTx/>
        <a:latin typeface="+mn-lt"/>
        <a:ea typeface="+mn-ea"/>
        <a:cs typeface="+mn-cs"/>
        <a:sym typeface="Trebuchet M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1400" u="none" kumimoji="0" normalizeH="0">
        <a:ln>
          <a:noFill/>
        </a:ln>
        <a:solidFill>
          <a:srgbClr val="2A3990"/>
        </a:solidFill>
        <a:effectLst/>
        <a:uFillTx/>
        <a:latin typeface="+mn-lt"/>
        <a:ea typeface="+mn-ea"/>
        <a:cs typeface="+mn-cs"/>
        <a:sym typeface="Trebuchet M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1400" u="none" kumimoji="0" normalizeH="0">
        <a:ln>
          <a:noFill/>
        </a:ln>
        <a:solidFill>
          <a:srgbClr val="2A3990"/>
        </a:solidFill>
        <a:effectLst/>
        <a:uFillTx/>
        <a:latin typeface="+mn-lt"/>
        <a:ea typeface="+mn-ea"/>
        <a:cs typeface="+mn-cs"/>
        <a:sym typeface="Trebuchet M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1400" u="none" kumimoji="0" normalizeH="0">
        <a:ln>
          <a:noFill/>
        </a:ln>
        <a:solidFill>
          <a:srgbClr val="2A3990"/>
        </a:solidFill>
        <a:effectLst/>
        <a:uFillTx/>
        <a:latin typeface="+mn-lt"/>
        <a:ea typeface="+mn-ea"/>
        <a:cs typeface="+mn-cs"/>
        <a:sym typeface="Trebuchet M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rgbClr val="CBCCD5"/>
          </a:solidFill>
        </a:fill>
      </a:tcStyle>
    </a:wholeTbl>
    <a:band2H>
      <a:tcTxStyle b="def" i="def"/>
      <a:tcStyle>
        <a:tcBdr/>
        <a:fill>
          <a:solidFill>
            <a:srgbClr val="E7E7EB"/>
          </a:solidFill>
        </a:fill>
      </a:tcStyle>
    </a:band2H>
    <a:firstCo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381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381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rgbClr val="DECBCF"/>
          </a:solidFill>
        </a:fill>
      </a:tcStyle>
    </a:wholeTbl>
    <a:band2H>
      <a:tcTxStyle b="def" i="def"/>
      <a:tcStyle>
        <a:tcBdr/>
        <a:fill>
          <a:solidFill>
            <a:srgbClr val="EFE7E8"/>
          </a:solidFill>
        </a:fill>
      </a:tcStyle>
    </a:band2H>
    <a:firstCo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381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381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rgbClr val="D5DBED"/>
          </a:solidFill>
        </a:fill>
      </a:tcStyle>
    </a:wholeTbl>
    <a:band2H>
      <a:tcTxStyle b="def" i="def"/>
      <a:tcStyle>
        <a:tcBdr/>
        <a:fill>
          <a:solidFill>
            <a:srgbClr val="EBEEF6"/>
          </a:solidFill>
        </a:fill>
      </a:tcStyle>
    </a:band2H>
    <a:firstCo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381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381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E"/>
          </a:solidFill>
        </a:fill>
      </a:tcStyle>
    </a:wholeTbl>
    <a:band2H>
      <a:tcTxStyle b="def" i="def"/>
      <a:tcStyle>
        <a:tcBdr/>
        <a:fill>
          <a:solidFill>
            <a:srgbClr val="2A3990"/>
          </a:solidFill>
        </a:fill>
      </a:tcStyle>
    </a:band2H>
    <a:firstCo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A3990"/>
              </a:solidFill>
              <a:prstDash val="solid"/>
              <a:round/>
            </a:ln>
          </a:top>
          <a:bottom>
            <a:ln w="254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2A3990"/>
          </a:solidFill>
        </a:fill>
      </a:tcStyle>
    </a:lastRow>
    <a:fir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A3990"/>
              </a:solidFill>
              <a:prstDash val="solid"/>
              <a:round/>
            </a:ln>
          </a:top>
          <a:bottom>
            <a:ln w="254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rgbClr val="CBCCDB"/>
          </a:solidFill>
        </a:fill>
      </a:tcStyle>
    </a:wholeTbl>
    <a:band2H>
      <a:tcTxStyle b="def" i="def"/>
      <a:tcStyle>
        <a:tcBdr/>
        <a:fill>
          <a:solidFill>
            <a:srgbClr val="E7E7EE"/>
          </a:solidFill>
        </a:fill>
      </a:tcStyle>
    </a:band2H>
    <a:firstCo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rgbClr val="2A3990"/>
          </a:solidFill>
        </a:fill>
      </a:tcStyle>
    </a:firstCol>
    <a:la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381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rgbClr val="2A3990"/>
          </a:solidFill>
        </a:fill>
      </a:tcStyle>
    </a:lastRow>
    <a:fir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381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rgbClr val="2A3990"/>
          </a:solidFill>
        </a:fill>
      </a:tcStyle>
    </a:firstRow>
  </a:tblStyle>
  <a:tblStyle styleId="{2708684C-4D16-4618-839F-0558EEFCDFE6}" styleName="">
    <a:tblBg/>
    <a:wholeTb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rgbClr val="2A399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solidFill>
            <a:srgbClr val="2A3990">
              <a:alpha val="20000"/>
            </a:srgbClr>
          </a:solidFill>
        </a:fill>
      </a:tcStyle>
    </a:firstCol>
    <a:la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50800" cap="flat">
              <a:solidFill>
                <a:srgbClr val="2A3990"/>
              </a:solidFill>
              <a:prstDash val="solid"/>
              <a:round/>
            </a:ln>
          </a:top>
          <a:bottom>
            <a:ln w="127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2A3990"/>
        </a:fontRef>
        <a:srgbClr val="2A3990"/>
      </a:tcTxStyle>
      <a:tcStyle>
        <a:tcBdr>
          <a:left>
            <a:ln w="12700" cap="flat">
              <a:solidFill>
                <a:srgbClr val="2A3990"/>
              </a:solidFill>
              <a:prstDash val="solid"/>
              <a:round/>
            </a:ln>
          </a:left>
          <a:right>
            <a:ln w="12700" cap="flat">
              <a:solidFill>
                <a:srgbClr val="2A3990"/>
              </a:solidFill>
              <a:prstDash val="solid"/>
              <a:round/>
            </a:ln>
          </a:right>
          <a:top>
            <a:ln w="12700" cap="flat">
              <a:solidFill>
                <a:srgbClr val="2A3990"/>
              </a:solidFill>
              <a:prstDash val="solid"/>
              <a:round/>
            </a:ln>
          </a:top>
          <a:bottom>
            <a:ln w="25400" cap="flat">
              <a:solidFill>
                <a:srgbClr val="2A3990"/>
              </a:solidFill>
              <a:prstDash val="solid"/>
              <a:round/>
            </a:ln>
          </a:bottom>
          <a:insideH>
            <a:ln w="12700" cap="flat">
              <a:solidFill>
                <a:srgbClr val="2A3990"/>
              </a:solidFill>
              <a:prstDash val="solid"/>
              <a:round/>
            </a:ln>
          </a:insideH>
          <a:insideV>
            <a:ln w="12700" cap="flat">
              <a:solidFill>
                <a:srgbClr val="2A399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8" name="Shape 14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b="1" sz="1400">
        <a:latin typeface="+mn-lt"/>
        <a:ea typeface="+mn-ea"/>
        <a:cs typeface="+mn-cs"/>
        <a:sym typeface="Trebuchet MS"/>
      </a:defRPr>
    </a:lvl1pPr>
    <a:lvl2pPr indent="228600" latinLnBrk="0">
      <a:defRPr b="1" sz="1400">
        <a:latin typeface="+mn-lt"/>
        <a:ea typeface="+mn-ea"/>
        <a:cs typeface="+mn-cs"/>
        <a:sym typeface="Trebuchet MS"/>
      </a:defRPr>
    </a:lvl2pPr>
    <a:lvl3pPr indent="457200" latinLnBrk="0">
      <a:defRPr b="1" sz="1400">
        <a:latin typeface="+mn-lt"/>
        <a:ea typeface="+mn-ea"/>
        <a:cs typeface="+mn-cs"/>
        <a:sym typeface="Trebuchet MS"/>
      </a:defRPr>
    </a:lvl3pPr>
    <a:lvl4pPr indent="685800" latinLnBrk="0">
      <a:defRPr b="1" sz="1400">
        <a:latin typeface="+mn-lt"/>
        <a:ea typeface="+mn-ea"/>
        <a:cs typeface="+mn-cs"/>
        <a:sym typeface="Trebuchet MS"/>
      </a:defRPr>
    </a:lvl4pPr>
    <a:lvl5pPr indent="914400" latinLnBrk="0">
      <a:defRPr b="1" sz="1400">
        <a:latin typeface="+mn-lt"/>
        <a:ea typeface="+mn-ea"/>
        <a:cs typeface="+mn-cs"/>
        <a:sym typeface="Trebuchet MS"/>
      </a:defRPr>
    </a:lvl5pPr>
    <a:lvl6pPr indent="1143000" latinLnBrk="0">
      <a:defRPr b="1" sz="1400">
        <a:latin typeface="+mn-lt"/>
        <a:ea typeface="+mn-ea"/>
        <a:cs typeface="+mn-cs"/>
        <a:sym typeface="Trebuchet MS"/>
      </a:defRPr>
    </a:lvl6pPr>
    <a:lvl7pPr indent="1371600" latinLnBrk="0">
      <a:defRPr b="1" sz="1400">
        <a:latin typeface="+mn-lt"/>
        <a:ea typeface="+mn-ea"/>
        <a:cs typeface="+mn-cs"/>
        <a:sym typeface="Trebuchet MS"/>
      </a:defRPr>
    </a:lvl7pPr>
    <a:lvl8pPr indent="1600200" latinLnBrk="0">
      <a:defRPr b="1" sz="1400">
        <a:latin typeface="+mn-lt"/>
        <a:ea typeface="+mn-ea"/>
        <a:cs typeface="+mn-cs"/>
        <a:sym typeface="Trebuchet MS"/>
      </a:defRPr>
    </a:lvl8pPr>
    <a:lvl9pPr indent="1828800" latinLnBrk="0">
      <a:defRPr b="1" sz="1400">
        <a:latin typeface="+mn-lt"/>
        <a:ea typeface="+mn-ea"/>
        <a:cs typeface="+mn-cs"/>
        <a:sym typeface="Trebuchet M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bg>
      <p:bgPr>
        <a:solidFill>
          <a:srgbClr val="2A39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10;p2"/>
          <p:cNvGrpSpPr/>
          <p:nvPr/>
        </p:nvGrpSpPr>
        <p:grpSpPr>
          <a:xfrm>
            <a:off x="6098377" y="4"/>
            <a:ext cx="3045627" cy="2030574"/>
            <a:chOff x="-1" y="0"/>
            <a:chExt cx="3045626" cy="2030572"/>
          </a:xfrm>
        </p:grpSpPr>
        <p:sp>
          <p:nvSpPr>
            <p:cNvPr id="17" name="Google Shape;11;p2"/>
            <p:cNvSpPr/>
            <p:nvPr/>
          </p:nvSpPr>
          <p:spPr>
            <a:xfrm>
              <a:off x="2030424" y="10"/>
              <a:ext cx="1015202" cy="1015203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8" name="Google Shape;12;p2"/>
            <p:cNvSpPr/>
            <p:nvPr/>
          </p:nvSpPr>
          <p:spPr>
            <a:xfrm flipH="1">
              <a:off x="1015084" y="-1"/>
              <a:ext cx="1015202" cy="1015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9" name="Google Shape;13;p2"/>
            <p:cNvSpPr/>
            <p:nvPr/>
          </p:nvSpPr>
          <p:spPr>
            <a:xfrm flipH="1" rot="10800000">
              <a:off x="1015209" y="102"/>
              <a:ext cx="1015202" cy="1015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0" name="Google Shape;14;p2"/>
            <p:cNvSpPr/>
            <p:nvPr/>
          </p:nvSpPr>
          <p:spPr>
            <a:xfrm rot="10800000">
              <a:off x="-1" y="92"/>
              <a:ext cx="1015203" cy="1015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1" name="Google Shape;15;p2"/>
            <p:cNvSpPr/>
            <p:nvPr/>
          </p:nvSpPr>
          <p:spPr>
            <a:xfrm rot="10800000">
              <a:off x="2030410" y="1015369"/>
              <a:ext cx="1015202" cy="1015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23" name="Title Text"/>
          <p:cNvSpPr txBox="1"/>
          <p:nvPr>
            <p:ph type="title"/>
          </p:nvPr>
        </p:nvSpPr>
        <p:spPr>
          <a:xfrm>
            <a:off x="598100" y="1775222"/>
            <a:ext cx="8222100" cy="838802"/>
          </a:xfrm>
          <a:prstGeom prst="rect">
            <a:avLst/>
          </a:prstGeom>
        </p:spPr>
        <p:txBody>
          <a:bodyPr anchor="b"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sz="quarter" idx="1"/>
          </p:nvPr>
        </p:nvSpPr>
        <p:spPr>
          <a:xfrm>
            <a:off x="598088" y="2715911"/>
            <a:ext cx="8222100" cy="432902"/>
          </a:xfrm>
          <a:prstGeom prst="rect">
            <a:avLst/>
          </a:prstGeom>
        </p:spPr>
        <p:txBody>
          <a:bodyPr/>
          <a:lstStyle>
            <a:lvl1pPr marL="228600" indent="-114300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FFFFFF"/>
                </a:solidFill>
              </a:defRPr>
            </a:lvl1pPr>
            <a:lvl2pPr marL="228600" indent="114300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FFFFFF"/>
                </a:solidFill>
              </a:defRPr>
            </a:lvl2pPr>
            <a:lvl3pPr marL="228600" indent="114300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FFFFFF"/>
                </a:solidFill>
              </a:defRPr>
            </a:lvl3pPr>
            <a:lvl4pPr marL="228600" indent="114300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FFFFFF"/>
                </a:solidFill>
              </a:defRPr>
            </a:lvl4pPr>
            <a:lvl5pPr marL="228600" indent="114300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bg>
      <p:bgPr>
        <a:solidFill>
          <a:srgbClr val="2A39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20;p3"/>
          <p:cNvGrpSpPr/>
          <p:nvPr/>
        </p:nvGrpSpPr>
        <p:grpSpPr>
          <a:xfrm>
            <a:off x="6098377" y="4"/>
            <a:ext cx="3045627" cy="2030574"/>
            <a:chOff x="-1" y="0"/>
            <a:chExt cx="3045626" cy="2030572"/>
          </a:xfrm>
        </p:grpSpPr>
        <p:sp>
          <p:nvSpPr>
            <p:cNvPr id="32" name="Google Shape;21;p3"/>
            <p:cNvSpPr/>
            <p:nvPr/>
          </p:nvSpPr>
          <p:spPr>
            <a:xfrm>
              <a:off x="2030424" y="10"/>
              <a:ext cx="1015202" cy="1015203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3" name="Google Shape;22;p3"/>
            <p:cNvSpPr/>
            <p:nvPr/>
          </p:nvSpPr>
          <p:spPr>
            <a:xfrm flipH="1">
              <a:off x="1015084" y="-1"/>
              <a:ext cx="1015202" cy="1015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4" name="Google Shape;23;p3"/>
            <p:cNvSpPr/>
            <p:nvPr/>
          </p:nvSpPr>
          <p:spPr>
            <a:xfrm flipH="1" rot="10800000">
              <a:off x="1015209" y="102"/>
              <a:ext cx="1015202" cy="1015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5" name="Google Shape;24;p3"/>
            <p:cNvSpPr/>
            <p:nvPr/>
          </p:nvSpPr>
          <p:spPr>
            <a:xfrm rot="10800000">
              <a:off x="-1" y="92"/>
              <a:ext cx="1015203" cy="1015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" name="Google Shape;25;p3"/>
            <p:cNvSpPr/>
            <p:nvPr/>
          </p:nvSpPr>
          <p:spPr>
            <a:xfrm rot="10800000">
              <a:off x="2030410" y="1015369"/>
              <a:ext cx="1015202" cy="1015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38" name="Title Text"/>
          <p:cNvSpPr txBox="1"/>
          <p:nvPr>
            <p:ph type="title"/>
          </p:nvPr>
        </p:nvSpPr>
        <p:spPr>
          <a:xfrm>
            <a:off x="598100" y="2152345"/>
            <a:ext cx="8222100" cy="838802"/>
          </a:xfrm>
          <a:prstGeom prst="rect">
            <a:avLst/>
          </a:prstGeom>
        </p:spPr>
        <p:txBody>
          <a:bodyPr anchor="ctr"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half" idx="1"/>
          </p:nvPr>
        </p:nvSpPr>
        <p:spPr>
          <a:xfrm>
            <a:off x="311698" y="1229975"/>
            <a:ext cx="3999903" cy="3339001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Google Shape;41;p5"/>
          <p:cNvSpPr txBox="1"/>
          <p:nvPr>
            <p:ph type="body" sz="half" idx="21"/>
          </p:nvPr>
        </p:nvSpPr>
        <p:spPr>
          <a:xfrm>
            <a:off x="4832398" y="1229974"/>
            <a:ext cx="3999903" cy="333900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/>
          <p:nvPr>
            <p:ph type="title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311698" y="1465804"/>
            <a:ext cx="2808003" cy="3103200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MAIN_POINT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51;p8"/>
          <p:cNvGrpSpPr/>
          <p:nvPr/>
        </p:nvGrpSpPr>
        <p:grpSpPr>
          <a:xfrm>
            <a:off x="6098377" y="4"/>
            <a:ext cx="3045627" cy="2030574"/>
            <a:chOff x="-1" y="0"/>
            <a:chExt cx="3045626" cy="2030572"/>
          </a:xfrm>
        </p:grpSpPr>
        <p:sp>
          <p:nvSpPr>
            <p:cNvPr id="82" name="Google Shape;52;p8"/>
            <p:cNvSpPr/>
            <p:nvPr/>
          </p:nvSpPr>
          <p:spPr>
            <a:xfrm>
              <a:off x="2030424" y="10"/>
              <a:ext cx="1015202" cy="1015203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3" name="Google Shape;53;p8"/>
            <p:cNvSpPr/>
            <p:nvPr/>
          </p:nvSpPr>
          <p:spPr>
            <a:xfrm flipH="1">
              <a:off x="1015084" y="-1"/>
              <a:ext cx="1015202" cy="1015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4" name="Google Shape;54;p8"/>
            <p:cNvSpPr/>
            <p:nvPr/>
          </p:nvSpPr>
          <p:spPr>
            <a:xfrm flipH="1" rot="10800000">
              <a:off x="1015209" y="102"/>
              <a:ext cx="1015202" cy="1015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5" name="Google Shape;55;p8"/>
            <p:cNvSpPr/>
            <p:nvPr/>
          </p:nvSpPr>
          <p:spPr>
            <a:xfrm rot="10800000">
              <a:off x="-1" y="92"/>
              <a:ext cx="1015203" cy="1015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6" name="Google Shape;56;p8"/>
            <p:cNvSpPr/>
            <p:nvPr/>
          </p:nvSpPr>
          <p:spPr>
            <a:xfrm rot="10800000">
              <a:off x="2030410" y="1015369"/>
              <a:ext cx="1015202" cy="1015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88" name="Title Text"/>
          <p:cNvSpPr txBox="1"/>
          <p:nvPr>
            <p:ph type="title"/>
          </p:nvPr>
        </p:nvSpPr>
        <p:spPr>
          <a:xfrm>
            <a:off x="490250" y="526348"/>
            <a:ext cx="5618701" cy="409080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60;p9"/>
          <p:cNvSpPr/>
          <p:nvPr/>
        </p:nvSpPr>
        <p:spPr>
          <a:xfrm>
            <a:off x="4572000" y="-176"/>
            <a:ext cx="4572000" cy="5143503"/>
          </a:xfrm>
          <a:prstGeom prst="rect">
            <a:avLst/>
          </a:prstGeom>
          <a:solidFill>
            <a:srgbClr val="2A399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7" name="Google Shape;61;p9"/>
          <p:cNvSpPr/>
          <p:nvPr/>
        </p:nvSpPr>
        <p:spPr>
          <a:xfrm>
            <a:off x="5029675" y="4495500"/>
            <a:ext cx="468302" cy="2"/>
          </a:xfrm>
          <a:prstGeom prst="line">
            <a:avLst/>
          </a:prstGeom>
          <a:ln w="19050">
            <a:solidFill>
              <a:srgbClr val="FFFF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" name="Title Text"/>
          <p:cNvSpPr txBox="1"/>
          <p:nvPr>
            <p:ph type="title"/>
          </p:nvPr>
        </p:nvSpPr>
        <p:spPr>
          <a:xfrm>
            <a:off x="265500" y="1151099"/>
            <a:ext cx="4045200" cy="1564503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99" name="Body Level One…"/>
          <p:cNvSpPr txBox="1"/>
          <p:nvPr>
            <p:ph type="body" sz="quarter" idx="1"/>
          </p:nvPr>
        </p:nvSpPr>
        <p:spPr>
          <a:xfrm>
            <a:off x="265500" y="2768999"/>
            <a:ext cx="4045200" cy="12693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Google Shape;64;p9"/>
          <p:cNvSpPr txBox="1"/>
          <p:nvPr>
            <p:ph type="body" sz="half" idx="21"/>
          </p:nvPr>
        </p:nvSpPr>
        <p:spPr>
          <a:xfrm>
            <a:off x="4939500" y="724199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Body Level One…"/>
          <p:cNvSpPr txBox="1"/>
          <p:nvPr>
            <p:ph type="body" sz="quarter" idx="1"/>
          </p:nvPr>
        </p:nvSpPr>
        <p:spPr>
          <a:xfrm>
            <a:off x="319499" y="4230575"/>
            <a:ext cx="5998803" cy="5988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G_NUMBER">
    <p:bg>
      <p:bgPr>
        <a:solidFill>
          <a:srgbClr val="2A39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70;p11"/>
          <p:cNvGrpSpPr/>
          <p:nvPr/>
        </p:nvGrpSpPr>
        <p:grpSpPr>
          <a:xfrm>
            <a:off x="6098377" y="4"/>
            <a:ext cx="3045627" cy="2030574"/>
            <a:chOff x="-1" y="0"/>
            <a:chExt cx="3045626" cy="2030572"/>
          </a:xfrm>
        </p:grpSpPr>
        <p:sp>
          <p:nvSpPr>
            <p:cNvPr id="116" name="Google Shape;71;p11"/>
            <p:cNvSpPr/>
            <p:nvPr/>
          </p:nvSpPr>
          <p:spPr>
            <a:xfrm>
              <a:off x="2030424" y="10"/>
              <a:ext cx="1015202" cy="1015203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17" name="Google Shape;72;p11"/>
            <p:cNvSpPr/>
            <p:nvPr/>
          </p:nvSpPr>
          <p:spPr>
            <a:xfrm flipH="1">
              <a:off x="1015084" y="-1"/>
              <a:ext cx="1015202" cy="1015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18" name="Google Shape;73;p11"/>
            <p:cNvSpPr/>
            <p:nvPr/>
          </p:nvSpPr>
          <p:spPr>
            <a:xfrm flipH="1" rot="10800000">
              <a:off x="1015209" y="102"/>
              <a:ext cx="1015202" cy="1015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19" name="Google Shape;74;p11"/>
            <p:cNvSpPr/>
            <p:nvPr/>
          </p:nvSpPr>
          <p:spPr>
            <a:xfrm rot="10800000">
              <a:off x="-1" y="92"/>
              <a:ext cx="1015203" cy="1015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20" name="Google Shape;75;p11"/>
            <p:cNvSpPr/>
            <p:nvPr/>
          </p:nvSpPr>
          <p:spPr>
            <a:xfrm rot="10800000">
              <a:off x="2030410" y="1015369"/>
              <a:ext cx="1015202" cy="1015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122" name="xx%"/>
          <p:cNvSpPr txBox="1"/>
          <p:nvPr>
            <p:ph type="title" hasCustomPrompt="1"/>
          </p:nvPr>
        </p:nvSpPr>
        <p:spPr>
          <a:xfrm>
            <a:off x="311698" y="1256049"/>
            <a:ext cx="8520603" cy="2030703"/>
          </a:xfrm>
          <a:prstGeom prst="rect">
            <a:avLst/>
          </a:prstGeom>
        </p:spPr>
        <p:txBody>
          <a:bodyPr anchor="b"/>
          <a:lstStyle>
            <a:lvl1pPr algn="ctr">
              <a:defRPr sz="12000">
                <a:solidFill>
                  <a:srgbClr val="FFFFFF"/>
                </a:solidFill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123" name="Body Level One…"/>
          <p:cNvSpPr txBox="1"/>
          <p:nvPr>
            <p:ph type="body" sz="half" idx="1"/>
          </p:nvPr>
        </p:nvSpPr>
        <p:spPr>
          <a:xfrm>
            <a:off x="311698" y="3369224"/>
            <a:ext cx="8520603" cy="1281902"/>
          </a:xfrm>
          <a:prstGeom prst="rect">
            <a:avLst/>
          </a:prstGeom>
        </p:spPr>
        <p:txBody>
          <a:bodyPr/>
          <a:lstStyle>
            <a:lvl1pPr algn="ctr"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algn="ctr">
              <a:buClr>
                <a:srgbClr val="FFFFFF"/>
              </a:buClr>
              <a:defRPr>
                <a:solidFill>
                  <a:srgbClr val="FFFFFF"/>
                </a:solidFill>
              </a:defRPr>
            </a:lvl2pPr>
            <a:lvl3pPr algn="ctr">
              <a:buClr>
                <a:srgbClr val="FFFFFF"/>
              </a:buClr>
              <a:defRPr>
                <a:solidFill>
                  <a:srgbClr val="FFFFFF"/>
                </a:solidFill>
              </a:defRPr>
            </a:lvl3pPr>
            <a:lvl4pPr algn="ctr">
              <a:buClr>
                <a:srgbClr val="FFFFFF"/>
              </a:buClr>
              <a:defRPr>
                <a:solidFill>
                  <a:srgbClr val="FFFFFF"/>
                </a:solidFill>
              </a:defRPr>
            </a:lvl4pPr>
            <a:lvl5pPr algn="ctr">
              <a:buClr>
                <a:srgbClr val="FFFFFF"/>
              </a:buCl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title and description (g3e06a4772bd_28_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Text"/>
          <p:cNvSpPr txBox="1"/>
          <p:nvPr>
            <p:ph type="title"/>
          </p:nvPr>
        </p:nvSpPr>
        <p:spPr>
          <a:xfrm>
            <a:off x="265500" y="1151099"/>
            <a:ext cx="4045200" cy="1564503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139" name="Body Level One…"/>
          <p:cNvSpPr txBox="1"/>
          <p:nvPr>
            <p:ph type="body" sz="quarter" idx="1"/>
          </p:nvPr>
        </p:nvSpPr>
        <p:spPr>
          <a:xfrm>
            <a:off x="265500" y="2768999"/>
            <a:ext cx="4045200" cy="12693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0" name="Google Shape;84;p13"/>
          <p:cNvSpPr txBox="1"/>
          <p:nvPr>
            <p:ph type="body" sz="half" idx="21"/>
          </p:nvPr>
        </p:nvSpPr>
        <p:spPr>
          <a:xfrm>
            <a:off x="4939500" y="724199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1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29;p4"/>
          <p:cNvGrpSpPr/>
          <p:nvPr/>
        </p:nvGrpSpPr>
        <p:grpSpPr>
          <a:xfrm>
            <a:off x="0" y="3903669"/>
            <a:ext cx="9144000" cy="1239927"/>
            <a:chOff x="0" y="0"/>
            <a:chExt cx="9144000" cy="1239926"/>
          </a:xfrm>
        </p:grpSpPr>
        <p:sp>
          <p:nvSpPr>
            <p:cNvPr id="2" name="Google Shape;30;p4"/>
            <p:cNvSpPr/>
            <p:nvPr/>
          </p:nvSpPr>
          <p:spPr>
            <a:xfrm>
              <a:off x="8154895" y="-1"/>
              <a:ext cx="989102" cy="987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" name="Google Shape;31;p4"/>
            <p:cNvSpPr/>
            <p:nvPr/>
          </p:nvSpPr>
          <p:spPr>
            <a:xfrm flipH="1">
              <a:off x="6181162" y="-1"/>
              <a:ext cx="989103" cy="987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" name="Google Shape;32;p4"/>
            <p:cNvSpPr/>
            <p:nvPr/>
          </p:nvSpPr>
          <p:spPr>
            <a:xfrm>
              <a:off x="7170272" y="0"/>
              <a:ext cx="989103" cy="987902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" name="Google Shape;33;p4"/>
            <p:cNvSpPr/>
            <p:nvPr/>
          </p:nvSpPr>
          <p:spPr>
            <a:xfrm rot="10800000">
              <a:off x="8154757" y="11"/>
              <a:ext cx="989102" cy="987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" name="Google Shape;34;p4"/>
            <p:cNvSpPr/>
            <p:nvPr/>
          </p:nvSpPr>
          <p:spPr>
            <a:xfrm>
              <a:off x="0" y="987925"/>
              <a:ext cx="9144000" cy="252002"/>
            </a:xfrm>
            <a:prstGeom prst="rect">
              <a:avLst/>
            </a:prstGeom>
            <a:solidFill>
              <a:srgbClr val="2A39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8" name="Title Text"/>
          <p:cNvSpPr txBox="1"/>
          <p:nvPr>
            <p:ph type="title"/>
          </p:nvPr>
        </p:nvSpPr>
        <p:spPr>
          <a:xfrm>
            <a:off x="311698" y="410000"/>
            <a:ext cx="8520603" cy="60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9" name="Body Level One…"/>
          <p:cNvSpPr txBox="1"/>
          <p:nvPr>
            <p:ph type="body" idx="1"/>
          </p:nvPr>
        </p:nvSpPr>
        <p:spPr>
          <a:xfrm>
            <a:off x="311698" y="1229875"/>
            <a:ext cx="8520603" cy="333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/>
          <p:nvPr>
            <p:ph type="sldNum" sz="quarter" idx="2"/>
          </p:nvPr>
        </p:nvSpPr>
        <p:spPr>
          <a:xfrm>
            <a:off x="8664754" y="4686716"/>
            <a:ext cx="344377" cy="322549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sp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2A3990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2A3990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2A3990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2A3990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2A3990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2A3990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2A3990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2A3990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2A3990"/>
          </a:solidFill>
          <a:uFillTx/>
          <a:latin typeface="+mn-lt"/>
          <a:ea typeface="+mn-ea"/>
          <a:cs typeface="+mn-cs"/>
          <a:sym typeface="Trebuchet MS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434343"/>
        </a:buClr>
        <a:buSzPts val="1800"/>
        <a:buFont typeface="Trebuchet MS"/>
        <a:buChar char="●"/>
        <a:tabLst/>
        <a:defRPr b="1" baseline="0" cap="none" i="0" spc="0" strike="noStrike" sz="1800" u="none">
          <a:solidFill>
            <a:srgbClr val="434343"/>
          </a:solidFill>
          <a:uFillTx/>
          <a:latin typeface="+mn-lt"/>
          <a:ea typeface="+mn-ea"/>
          <a:cs typeface="+mn-cs"/>
          <a:sym typeface="Trebuchet MS"/>
        </a:defRPr>
      </a:lvl1pPr>
      <a:lvl2pPr marL="1005114" marR="0" indent="-4082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434343"/>
        </a:buClr>
        <a:buSzPts val="1800"/>
        <a:buFont typeface="Trebuchet MS"/>
        <a:buChar char="○"/>
        <a:tabLst/>
        <a:defRPr b="1" baseline="0" cap="none" i="0" spc="0" strike="noStrike" sz="1800" u="none">
          <a:solidFill>
            <a:srgbClr val="434343"/>
          </a:solidFill>
          <a:uFillTx/>
          <a:latin typeface="+mn-lt"/>
          <a:ea typeface="+mn-ea"/>
          <a:cs typeface="+mn-cs"/>
          <a:sym typeface="Trebuchet MS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434343"/>
        </a:buClr>
        <a:buSzPts val="1800"/>
        <a:buFont typeface="Trebuchet MS"/>
        <a:buChar char="■"/>
        <a:tabLst/>
        <a:defRPr b="1" baseline="0" cap="none" i="0" spc="0" strike="noStrike" sz="1800" u="none">
          <a:solidFill>
            <a:srgbClr val="434343"/>
          </a:solidFill>
          <a:uFillTx/>
          <a:latin typeface="+mn-lt"/>
          <a:ea typeface="+mn-ea"/>
          <a:cs typeface="+mn-cs"/>
          <a:sym typeface="Trebuchet MS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434343"/>
        </a:buClr>
        <a:buSzPts val="1800"/>
        <a:buFont typeface="Trebuchet MS"/>
        <a:buChar char="●"/>
        <a:tabLst/>
        <a:defRPr b="1" baseline="0" cap="none" i="0" spc="0" strike="noStrike" sz="1800" u="none">
          <a:solidFill>
            <a:srgbClr val="434343"/>
          </a:solidFill>
          <a:uFillTx/>
          <a:latin typeface="+mn-lt"/>
          <a:ea typeface="+mn-ea"/>
          <a:cs typeface="+mn-cs"/>
          <a:sym typeface="Trebuchet MS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434343"/>
        </a:buClr>
        <a:buSzPts val="1800"/>
        <a:buFont typeface="Trebuchet MS"/>
        <a:buChar char="○"/>
        <a:tabLst/>
        <a:defRPr b="1" baseline="0" cap="none" i="0" spc="0" strike="noStrike" sz="1800" u="none">
          <a:solidFill>
            <a:srgbClr val="434343"/>
          </a:solidFill>
          <a:uFillTx/>
          <a:latin typeface="+mn-lt"/>
          <a:ea typeface="+mn-ea"/>
          <a:cs typeface="+mn-cs"/>
          <a:sym typeface="Trebuchet MS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434343"/>
        </a:buClr>
        <a:buSzPts val="1800"/>
        <a:buFont typeface="Trebuchet MS"/>
        <a:buChar char="■"/>
        <a:tabLst/>
        <a:defRPr b="1" baseline="0" cap="none" i="0" spc="0" strike="noStrike" sz="1800" u="none">
          <a:solidFill>
            <a:srgbClr val="434343"/>
          </a:solidFill>
          <a:uFillTx/>
          <a:latin typeface="+mn-lt"/>
          <a:ea typeface="+mn-ea"/>
          <a:cs typeface="+mn-cs"/>
          <a:sym typeface="Trebuchet MS"/>
        </a:defRPr>
      </a:lvl6pPr>
      <a:lvl7pPr marL="3291113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434343"/>
        </a:buClr>
        <a:buSzPts val="1800"/>
        <a:buFont typeface="Trebuchet MS"/>
        <a:buChar char="●"/>
        <a:tabLst/>
        <a:defRPr b="1" baseline="0" cap="none" i="0" spc="0" strike="noStrike" sz="1800" u="none">
          <a:solidFill>
            <a:srgbClr val="434343"/>
          </a:solidFill>
          <a:uFillTx/>
          <a:latin typeface="+mn-lt"/>
          <a:ea typeface="+mn-ea"/>
          <a:cs typeface="+mn-cs"/>
          <a:sym typeface="Trebuchet MS"/>
        </a:defRPr>
      </a:lvl7pPr>
      <a:lvl8pPr marL="3748313" marR="0" indent="-4082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434343"/>
        </a:buClr>
        <a:buSzPts val="1800"/>
        <a:buFont typeface="Trebuchet MS"/>
        <a:buChar char="○"/>
        <a:tabLst/>
        <a:defRPr b="1" baseline="0" cap="none" i="0" spc="0" strike="noStrike" sz="1800" u="none">
          <a:solidFill>
            <a:srgbClr val="434343"/>
          </a:solidFill>
          <a:uFillTx/>
          <a:latin typeface="+mn-lt"/>
          <a:ea typeface="+mn-ea"/>
          <a:cs typeface="+mn-cs"/>
          <a:sym typeface="Trebuchet MS"/>
        </a:defRPr>
      </a:lvl8pPr>
      <a:lvl9pPr marL="4205513" marR="0" indent="-408213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434343"/>
        </a:buClr>
        <a:buSzPts val="1800"/>
        <a:buFont typeface="Trebuchet MS"/>
        <a:buChar char="■"/>
        <a:tabLst/>
        <a:defRPr b="1" baseline="0" cap="none" i="0" spc="0" strike="noStrike" sz="1800" u="none">
          <a:solidFill>
            <a:srgbClr val="434343"/>
          </a:solidFill>
          <a:uFillTx/>
          <a:latin typeface="+mn-lt"/>
          <a:ea typeface="+mn-ea"/>
          <a:cs typeface="+mn-cs"/>
          <a:sym typeface="Trebuchet M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"/>
          <p:cNvSpPr/>
          <p:nvPr/>
        </p:nvSpPr>
        <p:spPr>
          <a:xfrm>
            <a:off x="6858000" y="2285999"/>
            <a:ext cx="3200400" cy="3200401"/>
          </a:xfrm>
          <a:prstGeom prst="ellipse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>
                <a:alpha val="15000"/>
              </a:srgbClr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</a:defRPr>
            </a:pPr>
          </a:p>
        </p:txBody>
      </p:sp>
      <p:sp>
        <p:nvSpPr>
          <p:cNvPr id="151" name="Text 2"/>
          <p:cNvSpPr txBox="1"/>
          <p:nvPr/>
        </p:nvSpPr>
        <p:spPr>
          <a:xfrm>
            <a:off x="502919" y="1048643"/>
            <a:ext cx="7680960" cy="929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2900">
                <a:solidFill>
                  <a:srgbClr val="FFFFFF"/>
                </a:solidFill>
              </a:defRPr>
            </a:pPr>
            <a:r>
              <a:t>LLM-Driven SystemVerilog Assertion</a:t>
            </a:r>
          </a:p>
          <a:p>
            <a:pPr>
              <a:defRPr sz="2900">
                <a:solidFill>
                  <a:srgbClr val="FFFFFF"/>
                </a:solidFill>
              </a:defRPr>
            </a:pPr>
            <a:r>
              <a:t>Generation for Formal Verification</a:t>
            </a:r>
          </a:p>
        </p:txBody>
      </p:sp>
      <p:sp>
        <p:nvSpPr>
          <p:cNvPr id="152" name="Text 3"/>
          <p:cNvSpPr txBox="1"/>
          <p:nvPr/>
        </p:nvSpPr>
        <p:spPr>
          <a:xfrm>
            <a:off x="502919" y="2114613"/>
            <a:ext cx="7680960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0" i="1" sz="1300">
                <a:solidFill>
                  <a:srgbClr val="BBDEFB"/>
                </a:solidFill>
              </a:defRPr>
            </a:lvl1pPr>
          </a:lstStyle>
          <a:p>
            <a:pPr/>
            <a:r>
              <a:t>CS525 – Formal Methods for System Verification</a:t>
            </a:r>
          </a:p>
        </p:txBody>
      </p:sp>
      <p:sp>
        <p:nvSpPr>
          <p:cNvPr id="153" name="Shape 4"/>
          <p:cNvSpPr/>
          <p:nvPr/>
        </p:nvSpPr>
        <p:spPr>
          <a:xfrm>
            <a:off x="457200" y="2435923"/>
            <a:ext cx="3657600" cy="3657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</a:defRPr>
            </a:pPr>
          </a:p>
        </p:txBody>
      </p:sp>
      <p:sp>
        <p:nvSpPr>
          <p:cNvPr id="154" name="Text 5"/>
          <p:cNvSpPr txBox="1"/>
          <p:nvPr/>
        </p:nvSpPr>
        <p:spPr>
          <a:xfrm>
            <a:off x="502919" y="3277104"/>
            <a:ext cx="7680960" cy="85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0" sz="1300">
                <a:solidFill>
                  <a:srgbClr val="BBDEFB"/>
                </a:solidFill>
              </a:defRPr>
            </a:pPr>
            <a:r>
              <a:t>Group 2 </a:t>
            </a:r>
          </a:p>
          <a:p>
            <a:pPr>
              <a:defRPr b="0" sz="1300">
                <a:solidFill>
                  <a:srgbClr val="BBDEFB"/>
                </a:solidFill>
              </a:defRPr>
            </a:pPr>
            <a:r>
              <a:t>Pranjal 230101077</a:t>
            </a:r>
          </a:p>
          <a:p>
            <a:pPr>
              <a:defRPr b="0" sz="1300">
                <a:solidFill>
                  <a:srgbClr val="BBDEFB"/>
                </a:solidFill>
              </a:defRPr>
            </a:pPr>
            <a:r>
              <a:t>Dhruvkumar R Pansuriya 230101071 </a:t>
            </a:r>
          </a:p>
          <a:p>
            <a:pPr>
              <a:defRPr b="0" sz="1300">
                <a:solidFill>
                  <a:srgbClr val="BBDEFB"/>
                </a:solidFill>
              </a:defRPr>
            </a:pPr>
            <a:r>
              <a:t>Shrish Uttarwar 230101108</a:t>
            </a:r>
          </a:p>
        </p:txBody>
      </p:sp>
      <p:sp>
        <p:nvSpPr>
          <p:cNvPr id="155" name="Text 6"/>
          <p:cNvSpPr txBox="1"/>
          <p:nvPr/>
        </p:nvSpPr>
        <p:spPr>
          <a:xfrm>
            <a:off x="502919" y="4267704"/>
            <a:ext cx="8138160" cy="243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0" i="1" sz="1100">
                <a:solidFill>
                  <a:srgbClr val="90A4AE"/>
                </a:solidFill>
              </a:defRPr>
            </a:lvl1pPr>
          </a:lstStyle>
          <a:p>
            <a:pPr/>
            <a:r>
              <a:t>IIT Guwahati · Dept. of Computer Science &amp; Engineering · April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99;p15"/>
          <p:cNvGrpSpPr/>
          <p:nvPr/>
        </p:nvGrpSpPr>
        <p:grpSpPr>
          <a:xfrm>
            <a:off x="406716" y="1524000"/>
            <a:ext cx="8330705" cy="2857500"/>
            <a:chOff x="-1" y="0"/>
            <a:chExt cx="8330704" cy="2857500"/>
          </a:xfrm>
        </p:grpSpPr>
        <p:sp>
          <p:nvSpPr>
            <p:cNvPr id="157" name="Google Shape;100;p15"/>
            <p:cNvSpPr/>
            <p:nvPr/>
          </p:nvSpPr>
          <p:spPr>
            <a:xfrm>
              <a:off x="0" y="0"/>
              <a:ext cx="8330704" cy="28575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9525" cap="flat">
              <a:solidFill>
                <a:srgbClr val="E2E8F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58" name="Google Shape;101;p15"/>
            <p:cNvSpPr/>
            <p:nvPr/>
          </p:nvSpPr>
          <p:spPr>
            <a:xfrm>
              <a:off x="-2" y="0"/>
              <a:ext cx="114302" cy="2857500"/>
            </a:xfrm>
            <a:prstGeom prst="roundRect">
              <a:avLst>
                <a:gd name="adj" fmla="val 33333"/>
              </a:avLst>
            </a:prstGeom>
            <a:solidFill>
              <a:srgbClr val="2A39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162" name="Google Shape;102;p15"/>
          <p:cNvGrpSpPr/>
          <p:nvPr/>
        </p:nvGrpSpPr>
        <p:grpSpPr>
          <a:xfrm>
            <a:off x="666750" y="1809750"/>
            <a:ext cx="7810501" cy="2286000"/>
            <a:chOff x="0" y="0"/>
            <a:chExt cx="7810500" cy="2286000"/>
          </a:xfrm>
        </p:grpSpPr>
        <p:sp>
          <p:nvSpPr>
            <p:cNvPr id="160" name="Rectangle"/>
            <p:cNvSpPr/>
            <p:nvPr/>
          </p:nvSpPr>
          <p:spPr>
            <a:xfrm>
              <a:off x="0" y="0"/>
              <a:ext cx="7810501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1500"/>
                </a:spcBef>
                <a:defRPr sz="1800">
                  <a:solidFill>
                    <a:srgbClr val="1E293B"/>
                  </a:solidFill>
                </a:defRPr>
              </a:pPr>
            </a:p>
          </p:txBody>
        </p:sp>
        <p:sp>
          <p:nvSpPr>
            <p:cNvPr id="161" name="Primary Research Question:…"/>
            <p:cNvSpPr txBox="1"/>
            <p:nvPr/>
          </p:nvSpPr>
          <p:spPr>
            <a:xfrm>
              <a:off x="0" y="190325"/>
              <a:ext cx="7810501" cy="19053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90500" tIns="190500" rIns="190500" bIns="190500" numCol="1" anchor="ctr">
              <a:spAutoFit/>
            </a:bodyPr>
            <a:lstStyle/>
            <a:p>
              <a:pPr>
                <a:defRPr b="0" i="1" sz="1500">
                  <a:solidFill>
                    <a:srgbClr val="475569"/>
                  </a:solidFill>
                </a:defRPr>
              </a:pPr>
              <a:r>
                <a:t>Primary Research Question:</a:t>
              </a:r>
            </a:p>
            <a:p>
              <a:pPr>
                <a:spcBef>
                  <a:spcPts val="1500"/>
                </a:spcBef>
                <a:defRPr b="0" sz="18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t>How can an automated system synthesise information from </a:t>
              </a:r>
              <a:r>
                <a:rPr>
                  <a:solidFill>
                    <a:srgbClr val="2A3990"/>
                  </a:solidFill>
                </a:rPr>
                <a:t>ambiguous, multi-page natural-language specifications</a:t>
              </a:r>
              <a:r>
                <a:t> and </a:t>
              </a:r>
              <a:r>
                <a:rPr>
                  <a:solidFill>
                    <a:srgbClr val="2A3990"/>
                  </a:solidFill>
                </a:rPr>
                <a:t>complex RTL code</a:t>
              </a:r>
              <a:r>
                <a:t> to generate SVAs that are both syntactically correct and functionally meaningful — within the </a:t>
              </a:r>
              <a:r>
                <a:rPr u="sng"/>
                <a:t>token and cost constraints</a:t>
              </a:r>
              <a:r>
                <a:t> of modern LLMs?</a:t>
              </a:r>
            </a:p>
          </p:txBody>
        </p:sp>
      </p:grpSp>
      <p:sp>
        <p:nvSpPr>
          <p:cNvPr id="16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6A76C0"/>
                </a:solidFill>
              </a:defRPr>
            </a:pPr>
          </a:p>
        </p:txBody>
      </p:sp>
      <p:sp>
        <p:nvSpPr>
          <p:cNvPr id="164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6A76C0"/>
                </a:solidFill>
              </a:defRPr>
            </a:pPr>
          </a:p>
        </p:txBody>
      </p:sp>
      <p:sp>
        <p:nvSpPr>
          <p:cNvPr id="167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Problem Statements &amp; Task Objectives</a:t>
            </a:r>
          </a:p>
        </p:txBody>
      </p:sp>
      <p:grpSp>
        <p:nvGrpSpPr>
          <p:cNvPr id="171" name="Google Shape;110;p16"/>
          <p:cNvGrpSpPr/>
          <p:nvPr/>
        </p:nvGrpSpPr>
        <p:grpSpPr>
          <a:xfrm>
            <a:off x="320038" y="1141715"/>
            <a:ext cx="8503923" cy="3305841"/>
            <a:chOff x="-1" y="0"/>
            <a:chExt cx="8503922" cy="3305839"/>
          </a:xfrm>
        </p:grpSpPr>
        <p:sp>
          <p:nvSpPr>
            <p:cNvPr id="168" name="Google Shape;111;p16"/>
            <p:cNvSpPr/>
            <p:nvPr/>
          </p:nvSpPr>
          <p:spPr>
            <a:xfrm>
              <a:off x="-1" y="-1"/>
              <a:ext cx="8503922" cy="3305841"/>
            </a:xfrm>
            <a:prstGeom prst="roundRect">
              <a:avLst>
                <a:gd name="adj" fmla="val 3529"/>
              </a:avLst>
            </a:prstGeom>
            <a:solidFill>
              <a:srgbClr val="F8FAFC"/>
            </a:solidFill>
            <a:ln w="9525" cap="flat">
              <a:solidFill>
                <a:srgbClr val="E2E8F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69" name="Google Shape;112;p16"/>
            <p:cNvSpPr/>
            <p:nvPr/>
          </p:nvSpPr>
          <p:spPr>
            <a:xfrm>
              <a:off x="-2" y="-1"/>
              <a:ext cx="116679" cy="3305841"/>
            </a:xfrm>
            <a:prstGeom prst="roundRect">
              <a:avLst>
                <a:gd name="adj" fmla="val 33333"/>
              </a:avLst>
            </a:prstGeom>
            <a:solidFill>
              <a:srgbClr val="2A39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70" name="Google Shape;113;p16"/>
            <p:cNvSpPr txBox="1"/>
            <p:nvPr/>
          </p:nvSpPr>
          <p:spPr>
            <a:xfrm>
              <a:off x="362668" y="770269"/>
              <a:ext cx="7875828" cy="1765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5250" tIns="95250" rIns="95250" bIns="95250" numCol="1" anchor="ctr">
              <a:spAutoFit/>
            </a:bodyPr>
            <a:lstStyle/>
            <a:p>
              <a:pPr/>
              <a:r>
                <a:t>P1. Long-Context Limits</a:t>
              </a:r>
              <a:r>
                <a:rPr>
                  <a:solidFill>
                    <a:srgbClr val="475569"/>
                  </a:solidFill>
                </a:rPr>
                <a:t> — </a:t>
              </a:r>
              <a:r>
                <a:rPr b="0">
                  <a:solidFill>
                    <a:srgbClr val="475569"/>
                  </a:solidFill>
                </a:rPr>
                <a:t>selecting a minimal, sufficient context subset.</a:t>
              </a:r>
              <a:endParaRPr b="0">
                <a:solidFill>
                  <a:srgbClr val="475569"/>
                </a:solidFill>
              </a:endParaRPr>
            </a:p>
            <a:p>
              <a:pPr>
                <a:spcBef>
                  <a:spcPts val="1100"/>
                </a:spcBef>
              </a:pPr>
              <a:r>
                <a:t>P2. Agent Memory</a:t>
              </a:r>
              <a:r>
                <a:rPr>
                  <a:solidFill>
                    <a:srgbClr val="475569"/>
                  </a:solidFill>
                </a:rPr>
                <a:t> — </a:t>
              </a:r>
              <a:r>
                <a:rPr b="0">
                  <a:solidFill>
                    <a:srgbClr val="475569"/>
                  </a:solidFill>
                </a:rPr>
                <a:t>accumulating and reusing verified knowledge across steps.</a:t>
              </a:r>
              <a:endParaRPr b="0">
                <a:solidFill>
                  <a:srgbClr val="475569"/>
                </a:solidFill>
              </a:endParaRPr>
            </a:p>
            <a:p>
              <a:pPr>
                <a:spcBef>
                  <a:spcPts val="1100"/>
                </a:spcBef>
              </a:pPr>
              <a:r>
                <a:t>P3. Cloud Communication Efficiency</a:t>
              </a:r>
              <a:r>
                <a:rPr>
                  <a:solidFill>
                    <a:srgbClr val="475569"/>
                  </a:solidFill>
                </a:rPr>
                <a:t> — </a:t>
              </a:r>
              <a:r>
                <a:rPr b="0">
                  <a:solidFill>
                    <a:srgbClr val="475569"/>
                  </a:solidFill>
                </a:rPr>
                <a:t>reducing API token and latency overhead.</a:t>
              </a:r>
              <a:endParaRPr b="0">
                <a:solidFill>
                  <a:srgbClr val="475569"/>
                </a:solidFill>
              </a:endParaRPr>
            </a:p>
            <a:p>
              <a:pPr>
                <a:spcBef>
                  <a:spcPts val="1100"/>
                </a:spcBef>
              </a:pPr>
              <a:r>
                <a:t>P4. Redundancy in Multi-Agent Systems</a:t>
              </a:r>
              <a:r>
                <a:rPr>
                  <a:solidFill>
                    <a:srgbClr val="475569"/>
                  </a:solidFill>
                </a:rPr>
                <a:t> —</a:t>
              </a:r>
              <a:r>
                <a:rPr b="0">
                  <a:solidFill>
                    <a:srgbClr val="475569"/>
                  </a:solidFill>
                </a:rPr>
                <a:t> minimizing duplicated computation and assertions.</a:t>
              </a:r>
              <a:endParaRPr b="0">
                <a:solidFill>
                  <a:srgbClr val="475569"/>
                </a:solidFill>
              </a:endParaRPr>
            </a:p>
            <a:p>
              <a:pPr>
                <a:spcBef>
                  <a:spcPts val="1100"/>
                </a:spcBef>
              </a:pPr>
              <a:r>
                <a:t>P5. Feedback-Driven Refinement</a:t>
              </a:r>
              <a:r>
                <a:rPr>
                  <a:solidFill>
                    <a:srgbClr val="475569"/>
                  </a:solidFill>
                </a:rPr>
                <a:t> — </a:t>
              </a:r>
              <a:r>
                <a:rPr b="0">
                  <a:solidFill>
                    <a:srgbClr val="475569"/>
                  </a:solidFill>
                </a:rPr>
                <a:t>improving outputs using verifier or critic feedback.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21;p17"/>
          <p:cNvGrpSpPr/>
          <p:nvPr/>
        </p:nvGrpSpPr>
        <p:grpSpPr>
          <a:xfrm>
            <a:off x="380999" y="1428749"/>
            <a:ext cx="8382002" cy="1428903"/>
            <a:chOff x="0" y="0"/>
            <a:chExt cx="8382001" cy="1428902"/>
          </a:xfrm>
        </p:grpSpPr>
        <p:sp>
          <p:nvSpPr>
            <p:cNvPr id="173" name="Google Shape;122;p17"/>
            <p:cNvSpPr/>
            <p:nvPr/>
          </p:nvSpPr>
          <p:spPr>
            <a:xfrm>
              <a:off x="0" y="-1"/>
              <a:ext cx="8382002" cy="1428903"/>
            </a:xfrm>
            <a:prstGeom prst="roundRect">
              <a:avLst>
                <a:gd name="adj" fmla="val 8000"/>
              </a:avLst>
            </a:prstGeom>
            <a:solidFill>
              <a:srgbClr val="DEFFF7"/>
            </a:solidFill>
            <a:ln w="9525" cap="flat">
              <a:solidFill>
                <a:srgbClr val="E2E8F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74" name="Google Shape;123;p17"/>
            <p:cNvSpPr/>
            <p:nvPr/>
          </p:nvSpPr>
          <p:spPr>
            <a:xfrm>
              <a:off x="-1" y="-1"/>
              <a:ext cx="76201" cy="1428903"/>
            </a:xfrm>
            <a:prstGeom prst="roundRect">
              <a:avLst>
                <a:gd name="adj" fmla="val 50000"/>
              </a:avLst>
            </a:prstGeom>
            <a:solidFill>
              <a:srgbClr val="2A39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75" name="Google Shape;125;p17"/>
            <p:cNvSpPr/>
            <p:nvPr/>
          </p:nvSpPr>
          <p:spPr>
            <a:xfrm>
              <a:off x="1047750" y="504202"/>
              <a:ext cx="676275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i="1" sz="1800">
                  <a:solidFill>
                    <a:srgbClr val="1E293B"/>
                  </a:solidFill>
                </a:defRPr>
              </a:pPr>
              <a:r>
                <a:t>“Turning </a:t>
              </a:r>
              <a:r>
                <a:rPr i="0">
                  <a:solidFill>
                    <a:srgbClr val="2A3990"/>
                  </a:solidFill>
                </a:rPr>
                <a:t>ambiguous specs + complex RTL</a:t>
              </a:r>
              <a:r>
                <a:t> into precise assertions using </a:t>
              </a:r>
              <a:r>
                <a:rPr i="0">
                  <a:solidFill>
                    <a:srgbClr val="2A3990"/>
                  </a:solidFill>
                </a:rPr>
                <a:t>LLMs + structured reasoning</a:t>
              </a:r>
              <a:r>
                <a:t>.”</a:t>
              </a:r>
            </a:p>
          </p:txBody>
        </p:sp>
      </p:grpSp>
      <p:grpSp>
        <p:nvGrpSpPr>
          <p:cNvPr id="180" name="Google Shape;126;p17"/>
          <p:cNvGrpSpPr/>
          <p:nvPr/>
        </p:nvGrpSpPr>
        <p:grpSpPr>
          <a:xfrm>
            <a:off x="380999" y="3143250"/>
            <a:ext cx="8382002" cy="1428901"/>
            <a:chOff x="0" y="0"/>
            <a:chExt cx="8382001" cy="1428900"/>
          </a:xfrm>
        </p:grpSpPr>
        <p:sp>
          <p:nvSpPr>
            <p:cNvPr id="177" name="Google Shape;127;p17"/>
            <p:cNvSpPr/>
            <p:nvPr/>
          </p:nvSpPr>
          <p:spPr>
            <a:xfrm>
              <a:off x="0" y="0"/>
              <a:ext cx="8382002" cy="1428901"/>
            </a:xfrm>
            <a:prstGeom prst="roundRect">
              <a:avLst>
                <a:gd name="adj" fmla="val 8000"/>
              </a:avLst>
            </a:prstGeom>
            <a:solidFill>
              <a:srgbClr val="DEFFF7"/>
            </a:solidFill>
            <a:ln w="9525" cap="flat">
              <a:solidFill>
                <a:srgbClr val="E2E8F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78" name="Google Shape;128;p17"/>
            <p:cNvSpPr/>
            <p:nvPr/>
          </p:nvSpPr>
          <p:spPr>
            <a:xfrm>
              <a:off x="-1" y="0"/>
              <a:ext cx="76201" cy="1428901"/>
            </a:xfrm>
            <a:prstGeom prst="roundRect">
              <a:avLst>
                <a:gd name="adj" fmla="val 50000"/>
              </a:avLst>
            </a:prstGeom>
            <a:solidFill>
              <a:srgbClr val="2A39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79" name="Google Shape;130;p17"/>
            <p:cNvSpPr/>
            <p:nvPr/>
          </p:nvSpPr>
          <p:spPr>
            <a:xfrm>
              <a:off x="1047750" y="527563"/>
              <a:ext cx="676275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i="1" sz="1800">
                  <a:solidFill>
                    <a:srgbClr val="1E293B"/>
                  </a:solidFill>
                </a:defRPr>
              </a:pPr>
              <a:r>
                <a:t>“</a:t>
              </a:r>
              <a:r>
                <a:rPr i="0">
                  <a:solidFill>
                    <a:srgbClr val="2A3990"/>
                  </a:solidFill>
                </a:rPr>
                <a:t>Efficient, scalable, and feedback-driven</a:t>
              </a:r>
              <a:r>
                <a:t>—built to handle long context, redundancy, and real-world constraints.”</a:t>
              </a:r>
            </a:p>
          </p:txBody>
        </p:sp>
      </p:grpSp>
      <p:sp>
        <p:nvSpPr>
          <p:cNvPr id="181" name="Text 7"/>
          <p:cNvSpPr txBox="1"/>
          <p:nvPr/>
        </p:nvSpPr>
        <p:spPr>
          <a:xfrm>
            <a:off x="763498" y="2028899"/>
            <a:ext cx="40777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sz="1600">
                <a:solidFill>
                  <a:srgbClr val="1565C0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82" name="Text 7"/>
          <p:cNvSpPr txBox="1"/>
          <p:nvPr/>
        </p:nvSpPr>
        <p:spPr>
          <a:xfrm>
            <a:off x="763498" y="3743400"/>
            <a:ext cx="40777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sz="1600">
                <a:solidFill>
                  <a:srgbClr val="1565C0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8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6A76C0"/>
                </a:solidFill>
              </a:defRPr>
            </a:pPr>
          </a:p>
        </p:txBody>
      </p:sp>
      <p:sp>
        <p:nvSpPr>
          <p:cNvPr id="184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Our Solution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35;p18"/>
          <p:cNvSpPr/>
          <p:nvPr/>
        </p:nvSpPr>
        <p:spPr>
          <a:xfrm>
            <a:off x="1819147" y="1045093"/>
            <a:ext cx="6104154" cy="734708"/>
          </a:xfrm>
          <a:prstGeom prst="roundRect">
            <a:avLst>
              <a:gd name="adj" fmla="val 21414"/>
            </a:avLst>
          </a:prstGeom>
          <a:ln w="19050">
            <a:solidFill>
              <a:srgbClr val="434343"/>
            </a:solidFill>
            <a:prstDash val="dash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189" name="Google Shape;136;p18"/>
          <p:cNvGrpSpPr/>
          <p:nvPr/>
        </p:nvGrpSpPr>
        <p:grpSpPr>
          <a:xfrm>
            <a:off x="1315149" y="902127"/>
            <a:ext cx="2049903" cy="718803"/>
            <a:chOff x="0" y="0"/>
            <a:chExt cx="2049902" cy="718802"/>
          </a:xfrm>
        </p:grpSpPr>
        <p:sp>
          <p:nvSpPr>
            <p:cNvPr id="187" name="Rounded Rectangle"/>
            <p:cNvSpPr/>
            <p:nvPr/>
          </p:nvSpPr>
          <p:spPr>
            <a:xfrm>
              <a:off x="0" y="-1"/>
              <a:ext cx="2049903" cy="718803"/>
            </a:xfrm>
            <a:prstGeom prst="roundRect">
              <a:avLst>
                <a:gd name="adj" fmla="val 16667"/>
              </a:avLst>
            </a:prstGeom>
            <a:solidFill>
              <a:srgbClr val="CCCCCC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88" name="Spec PDF"/>
            <p:cNvSpPr txBox="1"/>
            <p:nvPr/>
          </p:nvSpPr>
          <p:spPr>
            <a:xfrm>
              <a:off x="39850" y="166375"/>
              <a:ext cx="1970201" cy="3860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>
                  <a:solidFill>
                    <a:srgbClr val="000000"/>
                  </a:solidFill>
                </a:defRPr>
              </a:lvl1pPr>
            </a:lstStyle>
            <a:p>
              <a:pPr/>
              <a:r>
                <a:t>Spec PDF</a:t>
              </a:r>
            </a:p>
          </p:txBody>
        </p:sp>
      </p:grpSp>
      <p:grpSp>
        <p:nvGrpSpPr>
          <p:cNvPr id="192" name="Google Shape;137;p18"/>
          <p:cNvGrpSpPr/>
          <p:nvPr/>
        </p:nvGrpSpPr>
        <p:grpSpPr>
          <a:xfrm>
            <a:off x="5792675" y="902127"/>
            <a:ext cx="2049903" cy="718803"/>
            <a:chOff x="0" y="0"/>
            <a:chExt cx="2049902" cy="718802"/>
          </a:xfrm>
        </p:grpSpPr>
        <p:sp>
          <p:nvSpPr>
            <p:cNvPr id="190" name="Rounded Rectangle"/>
            <p:cNvSpPr/>
            <p:nvPr/>
          </p:nvSpPr>
          <p:spPr>
            <a:xfrm>
              <a:off x="0" y="-1"/>
              <a:ext cx="2049903" cy="718803"/>
            </a:xfrm>
            <a:prstGeom prst="roundRect">
              <a:avLst>
                <a:gd name="adj" fmla="val 16667"/>
              </a:avLst>
            </a:prstGeom>
            <a:solidFill>
              <a:srgbClr val="CCCCCC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91" name="RTL Code"/>
            <p:cNvSpPr txBox="1"/>
            <p:nvPr/>
          </p:nvSpPr>
          <p:spPr>
            <a:xfrm>
              <a:off x="39851" y="166375"/>
              <a:ext cx="1970199" cy="3860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>
                  <a:solidFill>
                    <a:srgbClr val="000000"/>
                  </a:solidFill>
                </a:defRPr>
              </a:lvl1pPr>
            </a:lstStyle>
            <a:p>
              <a:pPr/>
              <a:r>
                <a:t>RTL Code</a:t>
              </a:r>
            </a:p>
          </p:txBody>
        </p:sp>
      </p:grpSp>
      <p:sp>
        <p:nvSpPr>
          <p:cNvPr id="193" name="Google Shape;138;p18"/>
          <p:cNvSpPr/>
          <p:nvPr/>
        </p:nvSpPr>
        <p:spPr>
          <a:xfrm>
            <a:off x="1220700" y="1899674"/>
            <a:ext cx="6702601" cy="3012602"/>
          </a:xfrm>
          <a:prstGeom prst="roundRect">
            <a:avLst>
              <a:gd name="adj" fmla="val 16667"/>
            </a:avLst>
          </a:prstGeom>
          <a:ln w="19050">
            <a:solidFill>
              <a:srgbClr val="434343"/>
            </a:solidFill>
            <a:prstDash val="dash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196" name="Google Shape;139;p18"/>
          <p:cNvGrpSpPr/>
          <p:nvPr/>
        </p:nvGrpSpPr>
        <p:grpSpPr>
          <a:xfrm>
            <a:off x="1315149" y="2164663"/>
            <a:ext cx="2049903" cy="1094103"/>
            <a:chOff x="0" y="0"/>
            <a:chExt cx="2049902" cy="1094102"/>
          </a:xfrm>
        </p:grpSpPr>
        <p:sp>
          <p:nvSpPr>
            <p:cNvPr id="194" name="Rounded Rectangle"/>
            <p:cNvSpPr/>
            <p:nvPr/>
          </p:nvSpPr>
          <p:spPr>
            <a:xfrm>
              <a:off x="0" y="0"/>
              <a:ext cx="2049903" cy="1094103"/>
            </a:xfrm>
            <a:prstGeom prst="roundRect">
              <a:avLst>
                <a:gd name="adj" fmla="val 16667"/>
              </a:avLst>
            </a:prstGeom>
            <a:solidFill>
              <a:srgbClr val="CFE2F3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95" name="Graph RAG…"/>
            <p:cNvSpPr txBox="1"/>
            <p:nvPr/>
          </p:nvSpPr>
          <p:spPr>
            <a:xfrm>
              <a:off x="58172" y="252424"/>
              <a:ext cx="1933558" cy="5892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Graph RAG</a:t>
              </a:r>
            </a:p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KG Construction</a:t>
              </a:r>
            </a:p>
          </p:txBody>
        </p:sp>
      </p:grpSp>
      <p:grpSp>
        <p:nvGrpSpPr>
          <p:cNvPr id="199" name="Google Shape;140;p18"/>
          <p:cNvGrpSpPr/>
          <p:nvPr/>
        </p:nvGrpSpPr>
        <p:grpSpPr>
          <a:xfrm>
            <a:off x="5786199" y="2100398"/>
            <a:ext cx="2049903" cy="1094103"/>
            <a:chOff x="0" y="0"/>
            <a:chExt cx="2049902" cy="1094102"/>
          </a:xfrm>
        </p:grpSpPr>
        <p:sp>
          <p:nvSpPr>
            <p:cNvPr id="197" name="Rounded Rectangle"/>
            <p:cNvSpPr/>
            <p:nvPr/>
          </p:nvSpPr>
          <p:spPr>
            <a:xfrm>
              <a:off x="0" y="0"/>
              <a:ext cx="2049903" cy="1094103"/>
            </a:xfrm>
            <a:prstGeom prst="roundRect">
              <a:avLst>
                <a:gd name="adj" fmla="val 16667"/>
              </a:avLst>
            </a:prstGeom>
            <a:solidFill>
              <a:srgbClr val="CFE2F3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98" name="PyVerilog…"/>
            <p:cNvSpPr txBox="1"/>
            <p:nvPr/>
          </p:nvSpPr>
          <p:spPr>
            <a:xfrm>
              <a:off x="58172" y="252424"/>
              <a:ext cx="1933558" cy="5892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PyVerilog</a:t>
              </a:r>
            </a:p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RTL Parser</a:t>
              </a:r>
            </a:p>
          </p:txBody>
        </p:sp>
      </p:grpSp>
      <p:sp>
        <p:nvSpPr>
          <p:cNvPr id="200" name="Google Shape;141;p18"/>
          <p:cNvSpPr/>
          <p:nvPr/>
        </p:nvSpPr>
        <p:spPr>
          <a:xfrm>
            <a:off x="2340099" y="1625630"/>
            <a:ext cx="1" cy="534272"/>
          </a:xfrm>
          <a:prstGeom prst="line">
            <a:avLst/>
          </a:prstGeom>
          <a:ln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Google Shape;142;p18"/>
          <p:cNvSpPr/>
          <p:nvPr/>
        </p:nvSpPr>
        <p:spPr>
          <a:xfrm>
            <a:off x="6811150" y="1579899"/>
            <a:ext cx="2" cy="520501"/>
          </a:xfrm>
          <a:prstGeom prst="line">
            <a:avLst/>
          </a:prstGeom>
          <a:ln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04" name="Google Shape;143;p18"/>
          <p:cNvGrpSpPr/>
          <p:nvPr/>
        </p:nvGrpSpPr>
        <p:grpSpPr>
          <a:xfrm>
            <a:off x="3839874" y="2847350"/>
            <a:ext cx="1471503" cy="718803"/>
            <a:chOff x="0" y="0"/>
            <a:chExt cx="1471501" cy="718802"/>
          </a:xfrm>
        </p:grpSpPr>
        <p:sp>
          <p:nvSpPr>
            <p:cNvPr id="202" name="Rounded Rectangle"/>
            <p:cNvSpPr/>
            <p:nvPr/>
          </p:nvSpPr>
          <p:spPr>
            <a:xfrm>
              <a:off x="0" y="-1"/>
              <a:ext cx="1471502" cy="718803"/>
            </a:xfrm>
            <a:prstGeom prst="roundRect">
              <a:avLst>
                <a:gd name="adj" fmla="val 16667"/>
              </a:avLst>
            </a:prstGeom>
            <a:solidFill>
              <a:srgbClr val="FFE599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03" name="LLM Signal Mapping &amp; Alias Table"/>
            <p:cNvSpPr txBox="1"/>
            <p:nvPr/>
          </p:nvSpPr>
          <p:spPr>
            <a:xfrm>
              <a:off x="39850" y="1274"/>
              <a:ext cx="1391801" cy="7162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 sz="1200">
                  <a:solidFill>
                    <a:srgbClr val="000000"/>
                  </a:solidFill>
                </a:defRPr>
              </a:lvl1pPr>
            </a:lstStyle>
            <a:p>
              <a:pPr/>
              <a:r>
                <a:t>LLM Signal Mapping &amp; Alias Table</a:t>
              </a:r>
            </a:p>
          </p:txBody>
        </p:sp>
      </p:grpSp>
      <p:sp>
        <p:nvSpPr>
          <p:cNvPr id="205" name="Google Shape;144;p18"/>
          <p:cNvSpPr/>
          <p:nvPr/>
        </p:nvSpPr>
        <p:spPr>
          <a:xfrm flipH="1">
            <a:off x="5316249" y="2905070"/>
            <a:ext cx="465190" cy="116386"/>
          </a:xfrm>
          <a:prstGeom prst="line">
            <a:avLst/>
          </a:prstGeom>
          <a:ln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6" name="Google Shape;145;p18"/>
          <p:cNvSpPr/>
          <p:nvPr/>
        </p:nvSpPr>
        <p:spPr>
          <a:xfrm>
            <a:off x="3369771" y="2939724"/>
            <a:ext cx="465343" cy="103048"/>
          </a:xfrm>
          <a:prstGeom prst="line">
            <a:avLst/>
          </a:prstGeom>
          <a:ln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09" name="Google Shape;146;p18"/>
          <p:cNvGrpSpPr/>
          <p:nvPr/>
        </p:nvGrpSpPr>
        <p:grpSpPr>
          <a:xfrm>
            <a:off x="1372750" y="3802500"/>
            <a:ext cx="6405902" cy="948603"/>
            <a:chOff x="0" y="0"/>
            <a:chExt cx="6405901" cy="948601"/>
          </a:xfrm>
        </p:grpSpPr>
        <p:sp>
          <p:nvSpPr>
            <p:cNvPr id="207" name="Rounded Rectangle"/>
            <p:cNvSpPr/>
            <p:nvPr/>
          </p:nvSpPr>
          <p:spPr>
            <a:xfrm>
              <a:off x="0" y="0"/>
              <a:ext cx="6405902" cy="948602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08" name="Unified Knowledge Graph"/>
            <p:cNvSpPr txBox="1"/>
            <p:nvPr/>
          </p:nvSpPr>
          <p:spPr>
            <a:xfrm>
              <a:off x="51069" y="281275"/>
              <a:ext cx="6303763" cy="3860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>
                  <a:solidFill>
                    <a:srgbClr val="000000"/>
                  </a:solidFill>
                </a:defRPr>
              </a:lvl1pPr>
            </a:lstStyle>
            <a:p>
              <a:pPr/>
              <a:r>
                <a:t>Unified Knowledge Graph</a:t>
              </a:r>
            </a:p>
          </p:txBody>
        </p:sp>
      </p:grpSp>
      <p:sp>
        <p:nvSpPr>
          <p:cNvPr id="210" name="Google Shape;147;p18"/>
          <p:cNvSpPr/>
          <p:nvPr/>
        </p:nvSpPr>
        <p:spPr>
          <a:xfrm flipH="1">
            <a:off x="5232968" y="3199345"/>
            <a:ext cx="820987" cy="598394"/>
          </a:xfrm>
          <a:prstGeom prst="line">
            <a:avLst/>
          </a:prstGeom>
          <a:ln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1" name="Google Shape;148;p18"/>
          <p:cNvSpPr/>
          <p:nvPr/>
        </p:nvSpPr>
        <p:spPr>
          <a:xfrm>
            <a:off x="3128439" y="3263608"/>
            <a:ext cx="762961" cy="534130"/>
          </a:xfrm>
          <a:prstGeom prst="line">
            <a:avLst/>
          </a:prstGeom>
          <a:ln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" name="Google Shape;149;p18"/>
          <p:cNvSpPr/>
          <p:nvPr/>
        </p:nvSpPr>
        <p:spPr>
          <a:xfrm>
            <a:off x="4575650" y="3570852"/>
            <a:ext cx="18" cy="226886"/>
          </a:xfrm>
          <a:prstGeom prst="line">
            <a:avLst/>
          </a:prstGeom>
          <a:ln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3" name="Google Shape;151;p18"/>
          <p:cNvSpPr txBox="1"/>
          <p:nvPr/>
        </p:nvSpPr>
        <p:spPr>
          <a:xfrm>
            <a:off x="1259050" y="1036774"/>
            <a:ext cx="6633300" cy="449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 anchor="ctr">
            <a:spAutoFit/>
          </a:bodyPr>
          <a:lstStyle>
            <a:lvl1pPr algn="ctr">
              <a:defRPr sz="1800">
                <a:solidFill>
                  <a:srgbClr val="434343"/>
                </a:solidFill>
              </a:defRPr>
            </a:lvl1pPr>
          </a:lstStyle>
          <a:p>
            <a:pPr/>
            <a:r>
              <a:t>Stage 1: Extraction</a:t>
            </a:r>
          </a:p>
        </p:txBody>
      </p:sp>
      <p:sp>
        <p:nvSpPr>
          <p:cNvPr id="214" name="Google Shape;152;p18"/>
          <p:cNvSpPr txBox="1"/>
          <p:nvPr/>
        </p:nvSpPr>
        <p:spPr>
          <a:xfrm>
            <a:off x="1255350" y="2095531"/>
            <a:ext cx="6633300" cy="665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 anchor="ctr">
            <a:spAutoFit/>
          </a:bodyPr>
          <a:lstStyle/>
          <a:p>
            <a:pPr algn="ctr">
              <a:defRPr sz="1600">
                <a:solidFill>
                  <a:srgbClr val="434343"/>
                </a:solidFill>
              </a:defRPr>
            </a:pPr>
            <a:r>
              <a:t>Stage 2: Signal Mapping </a:t>
            </a:r>
          </a:p>
          <a:p>
            <a:pPr algn="ctr">
              <a:defRPr sz="1600">
                <a:solidFill>
                  <a:srgbClr val="434343"/>
                </a:solidFill>
              </a:defRPr>
            </a:pPr>
            <a:r>
              <a:t>&amp; Graph Construction</a:t>
            </a:r>
          </a:p>
        </p:txBody>
      </p:sp>
      <p:sp>
        <p:nvSpPr>
          <p:cNvPr id="215" name="Slide Number"/>
          <p:cNvSpPr txBox="1"/>
          <p:nvPr>
            <p:ph type="sldNum" sz="quarter" idx="4294967295"/>
          </p:nvPr>
        </p:nvSpPr>
        <p:spPr>
          <a:xfrm>
            <a:off x="8739165" y="4686715"/>
            <a:ext cx="269963" cy="32254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6" name="Google Shape;147;p18"/>
          <p:cNvSpPr/>
          <p:nvPr/>
        </p:nvSpPr>
        <p:spPr>
          <a:xfrm flipH="1">
            <a:off x="4571207" y="4755793"/>
            <a:ext cx="2018" cy="390045"/>
          </a:xfrm>
          <a:prstGeom prst="line">
            <a:avLst/>
          </a:prstGeom>
          <a:ln w="25400"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7" name="Shape 0"/>
          <p:cNvSpPr/>
          <p:nvPr/>
        </p:nvSpPr>
        <p:spPr>
          <a:xfrm>
            <a:off x="0" y="-13252"/>
            <a:ext cx="9144001" cy="589541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6A76C0"/>
                </a:solidFill>
              </a:defRPr>
            </a:pPr>
          </a:p>
        </p:txBody>
      </p:sp>
      <p:sp>
        <p:nvSpPr>
          <p:cNvPr id="218" name="Text 1"/>
          <p:cNvSpPr txBox="1"/>
          <p:nvPr/>
        </p:nvSpPr>
        <p:spPr>
          <a:xfrm>
            <a:off x="320040" y="135468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Knowledge Graph (KG)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157;p19"/>
          <p:cNvSpPr/>
          <p:nvPr/>
        </p:nvSpPr>
        <p:spPr>
          <a:xfrm>
            <a:off x="1220700" y="108300"/>
            <a:ext cx="6702601" cy="1980901"/>
          </a:xfrm>
          <a:prstGeom prst="roundRect">
            <a:avLst>
              <a:gd name="adj" fmla="val 16667"/>
            </a:avLst>
          </a:prstGeom>
          <a:ln w="19050">
            <a:solidFill>
              <a:srgbClr val="434343"/>
            </a:solidFill>
            <a:prstDash val="dash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223" name="Google Shape;158;p19"/>
          <p:cNvGrpSpPr/>
          <p:nvPr/>
        </p:nvGrpSpPr>
        <p:grpSpPr>
          <a:xfrm>
            <a:off x="1321950" y="336298"/>
            <a:ext cx="6495302" cy="718805"/>
            <a:chOff x="0" y="0"/>
            <a:chExt cx="6495301" cy="718803"/>
          </a:xfrm>
        </p:grpSpPr>
        <p:sp>
          <p:nvSpPr>
            <p:cNvPr id="221" name="Rounded Rectangle"/>
            <p:cNvSpPr/>
            <p:nvPr/>
          </p:nvSpPr>
          <p:spPr>
            <a:xfrm>
              <a:off x="0" y="-1"/>
              <a:ext cx="6495302" cy="718805"/>
            </a:xfrm>
            <a:prstGeom prst="roundRect">
              <a:avLst>
                <a:gd name="adj" fmla="val 16667"/>
              </a:avLst>
            </a:prstGeom>
            <a:solidFill>
              <a:srgbClr val="D0E0E3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2" name="Unified Context Retrieval (SSR+GRW)"/>
            <p:cNvSpPr txBox="1"/>
            <p:nvPr/>
          </p:nvSpPr>
          <p:spPr>
            <a:xfrm>
              <a:off x="39851" y="166375"/>
              <a:ext cx="6415599" cy="3860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>
                  <a:solidFill>
                    <a:srgbClr val="000000"/>
                  </a:solidFill>
                </a:defRPr>
              </a:lvl1pPr>
            </a:lstStyle>
            <a:p>
              <a:pPr/>
              <a:r>
                <a:t>Unified Context Retrieval (SSR+GRW)</a:t>
              </a:r>
            </a:p>
          </p:txBody>
        </p:sp>
      </p:grpSp>
      <p:grpSp>
        <p:nvGrpSpPr>
          <p:cNvPr id="226" name="Google Shape;160;p19"/>
          <p:cNvGrpSpPr/>
          <p:nvPr/>
        </p:nvGrpSpPr>
        <p:grpSpPr>
          <a:xfrm>
            <a:off x="2677498" y="1294900"/>
            <a:ext cx="3789005" cy="644703"/>
            <a:chOff x="0" y="0"/>
            <a:chExt cx="3789003" cy="644702"/>
          </a:xfrm>
        </p:grpSpPr>
        <p:sp>
          <p:nvSpPr>
            <p:cNvPr id="224" name="Rounded Rectangle"/>
            <p:cNvSpPr/>
            <p:nvPr/>
          </p:nvSpPr>
          <p:spPr>
            <a:xfrm>
              <a:off x="-1" y="-1"/>
              <a:ext cx="3789005" cy="644704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5" name="LLM Lingua (Compression)"/>
            <p:cNvSpPr txBox="1"/>
            <p:nvPr/>
          </p:nvSpPr>
          <p:spPr>
            <a:xfrm>
              <a:off x="36234" y="129324"/>
              <a:ext cx="3716535" cy="3860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>
                  <a:solidFill>
                    <a:srgbClr val="000000"/>
                  </a:solidFill>
                </a:defRPr>
              </a:lvl1pPr>
            </a:lstStyle>
            <a:p>
              <a:pPr/>
              <a:r>
                <a:t>LLM Lingua (Compression)</a:t>
              </a:r>
            </a:p>
          </p:txBody>
        </p:sp>
      </p:grpSp>
      <p:sp>
        <p:nvSpPr>
          <p:cNvPr id="227" name="Google Shape;161;p19"/>
          <p:cNvSpPr/>
          <p:nvPr/>
        </p:nvSpPr>
        <p:spPr>
          <a:xfrm>
            <a:off x="4569600" y="1055200"/>
            <a:ext cx="2402" cy="239702"/>
          </a:xfrm>
          <a:prstGeom prst="line">
            <a:avLst/>
          </a:prstGeom>
          <a:ln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" name="Google Shape;162;p19"/>
          <p:cNvSpPr/>
          <p:nvPr/>
        </p:nvSpPr>
        <p:spPr>
          <a:xfrm>
            <a:off x="1218298" y="2368175"/>
            <a:ext cx="6702603" cy="26460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9050">
            <a:solidFill>
              <a:srgbClr val="434343"/>
            </a:solidFill>
            <a:prstDash val="dash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231" name="Google Shape;163;p19"/>
          <p:cNvGrpSpPr/>
          <p:nvPr/>
        </p:nvGrpSpPr>
        <p:grpSpPr>
          <a:xfrm>
            <a:off x="1319549" y="2596175"/>
            <a:ext cx="6495303" cy="718803"/>
            <a:chOff x="0" y="0"/>
            <a:chExt cx="6495302" cy="718802"/>
          </a:xfrm>
        </p:grpSpPr>
        <p:sp>
          <p:nvSpPr>
            <p:cNvPr id="229" name="Rounded Rectangle"/>
            <p:cNvSpPr/>
            <p:nvPr/>
          </p:nvSpPr>
          <p:spPr>
            <a:xfrm>
              <a:off x="0" y="-1"/>
              <a:ext cx="6495303" cy="718803"/>
            </a:xfrm>
            <a:prstGeom prst="roundRect">
              <a:avLst>
                <a:gd name="adj" fmla="val 16667"/>
              </a:avLst>
            </a:prstGeom>
            <a:solidFill>
              <a:srgbClr val="FCE5CD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0" name="Shared GPTCache (Semantic Cache)"/>
            <p:cNvSpPr txBox="1"/>
            <p:nvPr/>
          </p:nvSpPr>
          <p:spPr>
            <a:xfrm>
              <a:off x="39850" y="166375"/>
              <a:ext cx="6415602" cy="3860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>
              <a:lvl1pPr algn="ctr">
                <a:defRPr>
                  <a:solidFill>
                    <a:srgbClr val="000000"/>
                  </a:solidFill>
                </a:defRPr>
              </a:lvl1pPr>
            </a:lstStyle>
            <a:p>
              <a:pPr/>
              <a:r>
                <a:t>Shared GPTCache (Semantic Cache)</a:t>
              </a:r>
            </a:p>
          </p:txBody>
        </p:sp>
      </p:grpSp>
      <p:grpSp>
        <p:nvGrpSpPr>
          <p:cNvPr id="234" name="Google Shape;165;p19"/>
          <p:cNvGrpSpPr/>
          <p:nvPr/>
        </p:nvGrpSpPr>
        <p:grpSpPr>
          <a:xfrm>
            <a:off x="1321949" y="3971549"/>
            <a:ext cx="2999104" cy="644703"/>
            <a:chOff x="0" y="0"/>
            <a:chExt cx="2999102" cy="644702"/>
          </a:xfrm>
        </p:grpSpPr>
        <p:sp>
          <p:nvSpPr>
            <p:cNvPr id="232" name="Rounded Rectangle"/>
            <p:cNvSpPr/>
            <p:nvPr/>
          </p:nvSpPr>
          <p:spPr>
            <a:xfrm>
              <a:off x="-1" y="-1"/>
              <a:ext cx="2999104" cy="6447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3" name="Agent…"/>
            <p:cNvSpPr txBox="1"/>
            <p:nvPr/>
          </p:nvSpPr>
          <p:spPr>
            <a:xfrm>
              <a:off x="36233" y="27725"/>
              <a:ext cx="2926634" cy="5892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Agent</a:t>
              </a:r>
            </a:p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NL Test Plan</a:t>
              </a:r>
            </a:p>
          </p:txBody>
        </p:sp>
      </p:grpSp>
      <p:sp>
        <p:nvSpPr>
          <p:cNvPr id="235" name="Google Shape;166;p19"/>
          <p:cNvSpPr/>
          <p:nvPr/>
        </p:nvSpPr>
        <p:spPr>
          <a:xfrm>
            <a:off x="2820670" y="3318509"/>
            <a:ext cx="1746251" cy="647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10800"/>
                </a:lnTo>
                <a:lnTo>
                  <a:pt x="0" y="10800"/>
                </a:lnTo>
                <a:lnTo>
                  <a:pt x="0" y="21600"/>
                </a:lnTo>
              </a:path>
            </a:pathLst>
          </a:custGeom>
          <a:ln>
            <a:solidFill>
              <a:srgbClr val="434343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38" name="Google Shape;167;p19"/>
          <p:cNvGrpSpPr/>
          <p:nvPr/>
        </p:nvGrpSpPr>
        <p:grpSpPr>
          <a:xfrm>
            <a:off x="4652624" y="3971549"/>
            <a:ext cx="2999104" cy="644703"/>
            <a:chOff x="0" y="0"/>
            <a:chExt cx="2999102" cy="644702"/>
          </a:xfrm>
        </p:grpSpPr>
        <p:sp>
          <p:nvSpPr>
            <p:cNvPr id="236" name="Rounded Rectangle"/>
            <p:cNvSpPr/>
            <p:nvPr/>
          </p:nvSpPr>
          <p:spPr>
            <a:xfrm>
              <a:off x="0" y="-1"/>
              <a:ext cx="2999104" cy="6447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7" name="Agent…"/>
            <p:cNvSpPr txBox="1"/>
            <p:nvPr/>
          </p:nvSpPr>
          <p:spPr>
            <a:xfrm>
              <a:off x="36234" y="27725"/>
              <a:ext cx="2926635" cy="5892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3" tIns="91423" rIns="91423" bIns="91423" numCol="1" anchor="ctr">
              <a:sp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Agent</a:t>
              </a:r>
            </a:p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SVA Generation</a:t>
              </a:r>
            </a:p>
          </p:txBody>
        </p:sp>
      </p:grpSp>
      <p:sp>
        <p:nvSpPr>
          <p:cNvPr id="239" name="Google Shape;168;p19"/>
          <p:cNvSpPr/>
          <p:nvPr/>
        </p:nvSpPr>
        <p:spPr>
          <a:xfrm flipV="1">
            <a:off x="4325896" y="4293899"/>
            <a:ext cx="321968" cy="2"/>
          </a:xfrm>
          <a:prstGeom prst="line">
            <a:avLst/>
          </a:prstGeom>
          <a:ln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" name="Google Shape;147;p18"/>
          <p:cNvSpPr/>
          <p:nvPr/>
        </p:nvSpPr>
        <p:spPr>
          <a:xfrm flipH="1">
            <a:off x="4571393" y="13160"/>
            <a:ext cx="1377" cy="312830"/>
          </a:xfrm>
          <a:prstGeom prst="line">
            <a:avLst/>
          </a:prstGeom>
          <a:ln w="25400"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0"/>
          <p:cNvSpPr/>
          <p:nvPr/>
        </p:nvSpPr>
        <p:spPr>
          <a:xfrm>
            <a:off x="0" y="4029273"/>
            <a:ext cx="9144000" cy="1126928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6A76C0"/>
                </a:solidFill>
              </a:defRPr>
            </a:pPr>
          </a:p>
        </p:txBody>
      </p:sp>
      <p:pic>
        <p:nvPicPr>
          <p:cNvPr id="243" name="Google Shape;203;p20" descr="Google Shape;203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9675" y="307975"/>
            <a:ext cx="6724801" cy="30672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6" name="Google Shape;204;p20"/>
          <p:cNvGrpSpPr/>
          <p:nvPr/>
        </p:nvGrpSpPr>
        <p:grpSpPr>
          <a:xfrm>
            <a:off x="2095499" y="517525"/>
            <a:ext cx="2047802" cy="619200"/>
            <a:chOff x="0" y="0"/>
            <a:chExt cx="2047800" cy="619199"/>
          </a:xfrm>
        </p:grpSpPr>
        <p:sp>
          <p:nvSpPr>
            <p:cNvPr id="244" name="Google Shape;205;p20"/>
            <p:cNvSpPr/>
            <p:nvPr/>
          </p:nvSpPr>
          <p:spPr>
            <a:xfrm>
              <a:off x="0" y="0"/>
              <a:ext cx="2047801" cy="619200"/>
            </a:xfrm>
            <a:prstGeom prst="roundRect">
              <a:avLst>
                <a:gd name="adj" fmla="val 18461"/>
              </a:avLst>
            </a:prstGeom>
            <a:solidFill>
              <a:srgbClr val="FFFFFF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5" name="Google Shape;206;p20"/>
            <p:cNvSpPr txBox="1"/>
            <p:nvPr/>
          </p:nvSpPr>
          <p:spPr>
            <a:xfrm>
              <a:off x="-1" y="106399"/>
              <a:ext cx="2047802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>
                  <a:solidFill>
                    <a:srgbClr val="434343"/>
                  </a:solidFill>
                </a:defRPr>
              </a:pPr>
              <a:r>
                <a:t>Agent C</a:t>
              </a:r>
            </a:p>
            <a:p>
              <a:pPr algn="ctr">
                <a:defRPr>
                  <a:solidFill>
                    <a:srgbClr val="434343"/>
                  </a:solidFill>
                </a:defRPr>
              </a:pPr>
              <a:r>
                <a:t>NL Test Plan</a:t>
              </a:r>
            </a:p>
          </p:txBody>
        </p:sp>
      </p:grpSp>
      <p:grpSp>
        <p:nvGrpSpPr>
          <p:cNvPr id="249" name="Google Shape;207;p20"/>
          <p:cNvGrpSpPr/>
          <p:nvPr/>
        </p:nvGrpSpPr>
        <p:grpSpPr>
          <a:xfrm>
            <a:off x="5000624" y="517525"/>
            <a:ext cx="2047802" cy="619200"/>
            <a:chOff x="0" y="0"/>
            <a:chExt cx="2047800" cy="619199"/>
          </a:xfrm>
        </p:grpSpPr>
        <p:sp>
          <p:nvSpPr>
            <p:cNvPr id="247" name="Google Shape;208;p20"/>
            <p:cNvSpPr/>
            <p:nvPr/>
          </p:nvSpPr>
          <p:spPr>
            <a:xfrm>
              <a:off x="0" y="0"/>
              <a:ext cx="2047801" cy="619200"/>
            </a:xfrm>
            <a:prstGeom prst="roundRect">
              <a:avLst>
                <a:gd name="adj" fmla="val 18461"/>
              </a:avLst>
            </a:prstGeom>
            <a:solidFill>
              <a:srgbClr val="FFFFFF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8" name="Google Shape;209;p20"/>
            <p:cNvSpPr txBox="1"/>
            <p:nvPr/>
          </p:nvSpPr>
          <p:spPr>
            <a:xfrm>
              <a:off x="-1" y="106399"/>
              <a:ext cx="2047802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>
                  <a:solidFill>
                    <a:srgbClr val="434343"/>
                  </a:solidFill>
                </a:defRPr>
              </a:pPr>
              <a:r>
                <a:t>Agent D</a:t>
              </a:r>
            </a:p>
            <a:p>
              <a:pPr algn="ctr">
                <a:defRPr>
                  <a:solidFill>
                    <a:srgbClr val="434343"/>
                  </a:solidFill>
                </a:defRPr>
              </a:pPr>
              <a:r>
                <a:t>SVA Synthesis</a:t>
              </a:r>
            </a:p>
          </p:txBody>
        </p:sp>
      </p:grpSp>
      <p:pic>
        <p:nvPicPr>
          <p:cNvPr id="250" name="Google Shape;211;p20" descr="Google Shape;211;p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14925" y="1129235"/>
            <a:ext cx="25453" cy="37900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3" name="Google Shape;212;p20"/>
          <p:cNvGrpSpPr/>
          <p:nvPr/>
        </p:nvGrpSpPr>
        <p:grpSpPr>
          <a:xfrm>
            <a:off x="2095499" y="1517650"/>
            <a:ext cx="2047802" cy="762000"/>
            <a:chOff x="0" y="0"/>
            <a:chExt cx="2047800" cy="762000"/>
          </a:xfrm>
        </p:grpSpPr>
        <p:sp>
          <p:nvSpPr>
            <p:cNvPr id="251" name="Google Shape;213;p20"/>
            <p:cNvSpPr/>
            <p:nvPr/>
          </p:nvSpPr>
          <p:spPr>
            <a:xfrm>
              <a:off x="0" y="0"/>
              <a:ext cx="2047801" cy="762000"/>
            </a:xfrm>
            <a:prstGeom prst="roundRect">
              <a:avLst>
                <a:gd name="adj" fmla="val 15000"/>
              </a:avLst>
            </a:prstGeom>
            <a:solidFill>
              <a:srgbClr val="EAD1DC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2" name="Google Shape;214;p20"/>
            <p:cNvSpPr txBox="1"/>
            <p:nvPr/>
          </p:nvSpPr>
          <p:spPr>
            <a:xfrm>
              <a:off x="-1" y="177799"/>
              <a:ext cx="2047802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Phase 1:</a:t>
              </a:r>
            </a:p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Semantic Alias</a:t>
              </a:r>
            </a:p>
          </p:txBody>
        </p:sp>
      </p:grpSp>
      <p:grpSp>
        <p:nvGrpSpPr>
          <p:cNvPr id="256" name="Google Shape;215;p20"/>
          <p:cNvGrpSpPr/>
          <p:nvPr/>
        </p:nvGrpSpPr>
        <p:grpSpPr>
          <a:xfrm>
            <a:off x="5000624" y="1517650"/>
            <a:ext cx="2047802" cy="762000"/>
            <a:chOff x="0" y="0"/>
            <a:chExt cx="2047800" cy="762000"/>
          </a:xfrm>
        </p:grpSpPr>
        <p:sp>
          <p:nvSpPr>
            <p:cNvPr id="254" name="Google Shape;216;p20"/>
            <p:cNvSpPr/>
            <p:nvPr/>
          </p:nvSpPr>
          <p:spPr>
            <a:xfrm>
              <a:off x="0" y="0"/>
              <a:ext cx="2047801" cy="762000"/>
            </a:xfrm>
            <a:prstGeom prst="roundRect">
              <a:avLst>
                <a:gd name="adj" fmla="val 15000"/>
              </a:avLst>
            </a:prstGeom>
            <a:solidFill>
              <a:srgbClr val="D9EAD3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5" name="Google Shape;217;p20"/>
            <p:cNvSpPr txBox="1"/>
            <p:nvPr/>
          </p:nvSpPr>
          <p:spPr>
            <a:xfrm>
              <a:off x="-1" y="177799"/>
              <a:ext cx="2047802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Phase 2:</a:t>
              </a:r>
            </a:p>
            <a:p>
              <a:pPr algn="ctr">
                <a:defRPr>
                  <a:solidFill>
                    <a:srgbClr val="000000"/>
                  </a:solidFill>
                </a:defRPr>
              </a:pPr>
              <a:r>
                <a:t>Verible Syntax</a:t>
              </a:r>
            </a:p>
          </p:txBody>
        </p:sp>
      </p:grpSp>
      <p:grpSp>
        <p:nvGrpSpPr>
          <p:cNvPr id="259" name="Google Shape;219;p20"/>
          <p:cNvGrpSpPr/>
          <p:nvPr/>
        </p:nvGrpSpPr>
        <p:grpSpPr>
          <a:xfrm>
            <a:off x="4191000" y="1612900"/>
            <a:ext cx="762000" cy="238200"/>
            <a:chOff x="0" y="0"/>
            <a:chExt cx="762000" cy="238199"/>
          </a:xfrm>
        </p:grpSpPr>
        <p:sp>
          <p:nvSpPr>
            <p:cNvPr id="257" name="Google Shape;220;p20"/>
            <p:cNvSpPr/>
            <p:nvPr/>
          </p:nvSpPr>
          <p:spPr>
            <a:xfrm>
              <a:off x="0" y="0"/>
              <a:ext cx="762000" cy="2382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 cap="flat">
              <a:solidFill>
                <a:srgbClr val="434343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8" name="Google Shape;221;p20"/>
            <p:cNvSpPr txBox="1"/>
            <p:nvPr/>
          </p:nvSpPr>
          <p:spPr>
            <a:xfrm>
              <a:off x="0" y="55600"/>
              <a:ext cx="76200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434343"/>
                  </a:solidFill>
                </a:defRPr>
              </a:lvl1pPr>
            </a:lstStyle>
            <a:p>
              <a:pPr/>
              <a:r>
                <a:t>Valid IDs</a:t>
              </a:r>
            </a:p>
          </p:txBody>
        </p:sp>
      </p:grpSp>
      <p:pic>
        <p:nvPicPr>
          <p:cNvPr id="260" name="Google Shape;222;p20" descr="Google Shape;222;p2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14475" y="736600"/>
            <a:ext cx="581100" cy="9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Google Shape;223;p20" descr="Google Shape;223;p2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048500" y="812800"/>
            <a:ext cx="581100" cy="9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Google Shape;225;p20"/>
          <p:cNvSpPr txBox="1"/>
          <p:nvPr/>
        </p:nvSpPr>
        <p:spPr>
          <a:xfrm>
            <a:off x="6862799" y="1193837"/>
            <a:ext cx="9525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C00000"/>
                </a:solidFill>
              </a:defRPr>
            </a:pPr>
            <a:r>
              <a:t>Fail</a:t>
            </a:r>
          </a:p>
          <a:p>
            <a:pPr algn="ctr">
              <a:defRPr sz="800">
                <a:solidFill>
                  <a:srgbClr val="C00000"/>
                </a:solidFill>
              </a:defRPr>
            </a:pPr>
            <a:r>
              <a:t>(Syntax)</a:t>
            </a:r>
          </a:p>
        </p:txBody>
      </p:sp>
      <p:sp>
        <p:nvSpPr>
          <p:cNvPr id="263" name="Google Shape;147;p18"/>
          <p:cNvSpPr/>
          <p:nvPr/>
        </p:nvSpPr>
        <p:spPr>
          <a:xfrm>
            <a:off x="4190925" y="1991820"/>
            <a:ext cx="762150" cy="1"/>
          </a:xfrm>
          <a:prstGeom prst="line">
            <a:avLst/>
          </a:prstGeom>
          <a:ln w="25400"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4" name="Google Shape;147;p18"/>
          <p:cNvSpPr/>
          <p:nvPr/>
        </p:nvSpPr>
        <p:spPr>
          <a:xfrm>
            <a:off x="3119400" y="-8689"/>
            <a:ext cx="1" cy="535949"/>
          </a:xfrm>
          <a:prstGeom prst="line">
            <a:avLst/>
          </a:prstGeom>
          <a:ln w="25400"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5" name="Google Shape;147;p18"/>
          <p:cNvSpPr/>
          <p:nvPr/>
        </p:nvSpPr>
        <p:spPr>
          <a:xfrm>
            <a:off x="3119400" y="1154388"/>
            <a:ext cx="1" cy="345599"/>
          </a:xfrm>
          <a:prstGeom prst="line">
            <a:avLst/>
          </a:prstGeom>
          <a:ln w="25400">
            <a:solidFill>
              <a:srgbClr val="434343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6" name="Google Shape;174;p20"/>
          <p:cNvSpPr txBox="1"/>
          <p:nvPr>
            <p:ph type="body" sz="quarter" idx="1"/>
          </p:nvPr>
        </p:nvSpPr>
        <p:spPr>
          <a:xfrm>
            <a:off x="105906" y="4329846"/>
            <a:ext cx="8932188" cy="95250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/>
          <a:lstStyle/>
          <a:p>
            <a:pPr marL="0" indent="0"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Semantic Alias:</a:t>
            </a:r>
            <a:r>
              <a:rPr b="0"/>
              <a:t> Matches generated signal names with valid RTL identifiers to detect hallucinated or incorrect signals.</a:t>
            </a:r>
            <a:endParaRPr b="0"/>
          </a:p>
          <a:p>
            <a:pPr marL="0" indent="0">
              <a:spcBef>
                <a:spcPts val="600"/>
              </a:spcBef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Verible Syntax:</a:t>
            </a:r>
            <a:r>
              <a:rPr b="0"/>
              <a:t> Checks whether the generated SVA follows correct SystemVerilog syntax and reports syntax errors.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9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System Architecture — Full Pipeline</a:t>
            </a:r>
          </a:p>
        </p:txBody>
      </p:sp>
      <p:sp>
        <p:nvSpPr>
          <p:cNvPr id="270" name="Shape 3"/>
          <p:cNvSpPr/>
          <p:nvPr/>
        </p:nvSpPr>
        <p:spPr>
          <a:xfrm>
            <a:off x="320040" y="804672"/>
            <a:ext cx="2011679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lumOff val="-8941"/>
              </a:schemeClr>
            </a:solidFill>
          </a:ln>
          <a:effectLst>
            <a:outerShdw sx="100000" sy="100000" kx="0" ky="0" algn="b" rotWithShape="0" blurRad="76200" dist="38100" dir="8100000">
              <a:schemeClr val="accent2">
                <a:lumOff val="-8941"/>
                <a:alpha val="12000"/>
              </a:scheme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chemeClr val="accent2">
                    <a:lumOff val="-8941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1" name="Text 4"/>
          <p:cNvSpPr txBox="1"/>
          <p:nvPr/>
        </p:nvSpPr>
        <p:spPr>
          <a:xfrm>
            <a:off x="320040" y="993569"/>
            <a:ext cx="201167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Stage 1</a:t>
            </a:r>
          </a:p>
        </p:txBody>
      </p:sp>
      <p:sp>
        <p:nvSpPr>
          <p:cNvPr id="272" name="Shape 5"/>
          <p:cNvSpPr/>
          <p:nvPr/>
        </p:nvSpPr>
        <p:spPr>
          <a:xfrm>
            <a:off x="320040" y="1371600"/>
            <a:ext cx="2011679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3" name="Text 6"/>
          <p:cNvSpPr txBox="1"/>
          <p:nvPr/>
        </p:nvSpPr>
        <p:spPr>
          <a:xfrm>
            <a:off x="365760" y="1490978"/>
            <a:ext cx="192024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Extraction &amp;</a:t>
            </a:r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t>Alignment</a:t>
            </a:r>
          </a:p>
        </p:txBody>
      </p:sp>
      <p:sp>
        <p:nvSpPr>
          <p:cNvPr id="274" name="Text 7"/>
          <p:cNvSpPr txBox="1"/>
          <p:nvPr/>
        </p:nvSpPr>
        <p:spPr>
          <a:xfrm>
            <a:off x="2350006" y="2194560"/>
            <a:ext cx="20117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sz="16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275" name="Shape 8"/>
          <p:cNvSpPr/>
          <p:nvPr/>
        </p:nvSpPr>
        <p:spPr>
          <a:xfrm>
            <a:off x="2532888" y="804672"/>
            <a:ext cx="201168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lumOff val="-8941"/>
              </a:schemeClr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6" name="Text 9"/>
          <p:cNvSpPr txBox="1"/>
          <p:nvPr/>
        </p:nvSpPr>
        <p:spPr>
          <a:xfrm>
            <a:off x="2532888" y="993569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Stage 2</a:t>
            </a:r>
          </a:p>
        </p:txBody>
      </p:sp>
      <p:sp>
        <p:nvSpPr>
          <p:cNvPr id="277" name="Shape 10"/>
          <p:cNvSpPr/>
          <p:nvPr/>
        </p:nvSpPr>
        <p:spPr>
          <a:xfrm>
            <a:off x="2532888" y="1371600"/>
            <a:ext cx="201168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8" name="Text 11"/>
          <p:cNvSpPr txBox="1"/>
          <p:nvPr/>
        </p:nvSpPr>
        <p:spPr>
          <a:xfrm>
            <a:off x="2578606" y="1490978"/>
            <a:ext cx="192024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Context Synthesis</a:t>
            </a:r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t>&amp; Compression</a:t>
            </a:r>
          </a:p>
        </p:txBody>
      </p:sp>
      <p:sp>
        <p:nvSpPr>
          <p:cNvPr id="279" name="Text 12"/>
          <p:cNvSpPr txBox="1"/>
          <p:nvPr/>
        </p:nvSpPr>
        <p:spPr>
          <a:xfrm>
            <a:off x="4562854" y="2194560"/>
            <a:ext cx="20117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sz="16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280" name="Shape 13"/>
          <p:cNvSpPr/>
          <p:nvPr/>
        </p:nvSpPr>
        <p:spPr>
          <a:xfrm>
            <a:off x="4745735" y="804672"/>
            <a:ext cx="201168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lumOff val="-8941"/>
              </a:schemeClr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1" name="Text 14"/>
          <p:cNvSpPr txBox="1"/>
          <p:nvPr/>
        </p:nvSpPr>
        <p:spPr>
          <a:xfrm>
            <a:off x="4745735" y="993569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Stage 3</a:t>
            </a:r>
          </a:p>
        </p:txBody>
      </p:sp>
      <p:sp>
        <p:nvSpPr>
          <p:cNvPr id="282" name="Shape 15"/>
          <p:cNvSpPr/>
          <p:nvPr/>
        </p:nvSpPr>
        <p:spPr>
          <a:xfrm>
            <a:off x="4745735" y="1371600"/>
            <a:ext cx="201168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3" name="Text 16"/>
          <p:cNvSpPr txBox="1"/>
          <p:nvPr/>
        </p:nvSpPr>
        <p:spPr>
          <a:xfrm>
            <a:off x="4791454" y="1579878"/>
            <a:ext cx="19202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000000"/>
                </a:solidFill>
              </a:defRPr>
            </a:lvl1pPr>
          </a:lstStyle>
          <a:p>
            <a:pPr/>
            <a:r>
              <a:t>SVA Generation</a:t>
            </a:r>
          </a:p>
        </p:txBody>
      </p:sp>
      <p:sp>
        <p:nvSpPr>
          <p:cNvPr id="284" name="Text 17"/>
          <p:cNvSpPr txBox="1"/>
          <p:nvPr/>
        </p:nvSpPr>
        <p:spPr>
          <a:xfrm>
            <a:off x="6775704" y="2194560"/>
            <a:ext cx="20117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sz="16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285" name="Shape 18"/>
          <p:cNvSpPr/>
          <p:nvPr/>
        </p:nvSpPr>
        <p:spPr>
          <a:xfrm>
            <a:off x="6958583" y="804672"/>
            <a:ext cx="2011679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lumOff val="-8941"/>
              </a:schemeClr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6" name="Text 19"/>
          <p:cNvSpPr txBox="1"/>
          <p:nvPr/>
        </p:nvSpPr>
        <p:spPr>
          <a:xfrm>
            <a:off x="6958583" y="993569"/>
            <a:ext cx="201167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Stage 4</a:t>
            </a:r>
          </a:p>
        </p:txBody>
      </p:sp>
      <p:sp>
        <p:nvSpPr>
          <p:cNvPr id="287" name="Shape 20"/>
          <p:cNvSpPr/>
          <p:nvPr/>
        </p:nvSpPr>
        <p:spPr>
          <a:xfrm>
            <a:off x="6958583" y="1371600"/>
            <a:ext cx="2011679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8" name="Text 21"/>
          <p:cNvSpPr txBox="1"/>
          <p:nvPr/>
        </p:nvSpPr>
        <p:spPr>
          <a:xfrm>
            <a:off x="7004304" y="1490978"/>
            <a:ext cx="192024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Checking</a:t>
            </a:r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t>&amp; Repair</a:t>
            </a:r>
          </a:p>
        </p:txBody>
      </p:sp>
      <p:sp>
        <p:nvSpPr>
          <p:cNvPr id="289" name="Text 22"/>
          <p:cNvSpPr txBox="1"/>
          <p:nvPr/>
        </p:nvSpPr>
        <p:spPr>
          <a:xfrm>
            <a:off x="393190" y="2032000"/>
            <a:ext cx="187452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</a:defRPr>
            </a:pPr>
            <a:r>
              <a:t>Spec PDF +</a:t>
            </a:r>
          </a:p>
          <a:p>
            <a:pPr algn="ctr">
              <a:defRPr b="0" sz="1000">
                <a:solidFill>
                  <a:srgbClr val="000000"/>
                </a:solidFill>
              </a:defRPr>
            </a:pPr>
            <a:r>
              <a:t>RTL Verilog</a:t>
            </a:r>
          </a:p>
        </p:txBody>
      </p:sp>
      <p:sp>
        <p:nvSpPr>
          <p:cNvPr id="290" name="Text 23"/>
          <p:cNvSpPr txBox="1"/>
          <p:nvPr/>
        </p:nvSpPr>
        <p:spPr>
          <a:xfrm>
            <a:off x="393190" y="2489200"/>
            <a:ext cx="187452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</a:defRPr>
            </a:pPr>
            <a:r>
              <a:t>GraphRAG KG</a:t>
            </a:r>
          </a:p>
          <a:p>
            <a:pPr algn="ctr">
              <a:defRPr b="0" sz="1000">
                <a:solidFill>
                  <a:srgbClr val="000000"/>
                </a:solidFill>
              </a:defRPr>
            </a:pPr>
            <a:r>
              <a:t>(Spec-side)</a:t>
            </a:r>
          </a:p>
        </p:txBody>
      </p:sp>
      <p:sp>
        <p:nvSpPr>
          <p:cNvPr id="291" name="Text 24"/>
          <p:cNvSpPr txBox="1"/>
          <p:nvPr/>
        </p:nvSpPr>
        <p:spPr>
          <a:xfrm>
            <a:off x="393190" y="2946400"/>
            <a:ext cx="187452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</a:defRPr>
            </a:pPr>
            <a:r>
              <a:t>PyVerilog</a:t>
            </a:r>
          </a:p>
          <a:p>
            <a:pPr algn="ctr">
              <a:defRPr b="0" sz="1000">
                <a:solidFill>
                  <a:srgbClr val="000000"/>
                </a:solidFill>
              </a:defRPr>
            </a:pPr>
            <a:r>
              <a:t>(RTL-side)</a:t>
            </a:r>
          </a:p>
        </p:txBody>
      </p:sp>
      <p:sp>
        <p:nvSpPr>
          <p:cNvPr id="292" name="Text 25"/>
          <p:cNvSpPr txBox="1"/>
          <p:nvPr/>
        </p:nvSpPr>
        <p:spPr>
          <a:xfrm>
            <a:off x="393190" y="3403600"/>
            <a:ext cx="187452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</a:defRPr>
            </a:pPr>
            <a:r>
              <a:t>Signal Mapping</a:t>
            </a:r>
          </a:p>
          <a:p>
            <a:pPr algn="ctr">
              <a:defRPr b="0" sz="1000">
                <a:solidFill>
                  <a:srgbClr val="000000"/>
                </a:solidFill>
              </a:defRPr>
            </a:pPr>
            <a:r>
              <a:t>&amp; Alias Table</a:t>
            </a:r>
          </a:p>
        </p:txBody>
      </p:sp>
      <p:sp>
        <p:nvSpPr>
          <p:cNvPr id="293" name="Text 26"/>
          <p:cNvSpPr txBox="1"/>
          <p:nvPr/>
        </p:nvSpPr>
        <p:spPr>
          <a:xfrm>
            <a:off x="393190" y="3860800"/>
            <a:ext cx="187452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</a:defRPr>
            </a:pPr>
            <a:r>
              <a:t>Unified KG</a:t>
            </a:r>
          </a:p>
          <a:p>
            <a:pPr algn="ctr">
              <a:defRPr b="0" sz="1000">
                <a:solidFill>
                  <a:srgbClr val="000000"/>
                </a:solidFill>
              </a:defRPr>
            </a:pPr>
            <a:r>
              <a:t>G = (V, E)</a:t>
            </a:r>
          </a:p>
        </p:txBody>
      </p:sp>
      <p:sp>
        <p:nvSpPr>
          <p:cNvPr id="294" name="Text 27"/>
          <p:cNvSpPr txBox="1"/>
          <p:nvPr/>
        </p:nvSpPr>
        <p:spPr>
          <a:xfrm>
            <a:off x="2542032" y="2020614"/>
            <a:ext cx="187452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Global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Summarisation</a:t>
            </a:r>
          </a:p>
        </p:txBody>
      </p:sp>
      <p:sp>
        <p:nvSpPr>
          <p:cNvPr id="295" name="Text 28"/>
          <p:cNvSpPr txBox="1"/>
          <p:nvPr/>
        </p:nvSpPr>
        <p:spPr>
          <a:xfrm>
            <a:off x="2542032" y="2477814"/>
            <a:ext cx="187452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Signal-Specific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Retrieval (SSR)</a:t>
            </a:r>
          </a:p>
        </p:txBody>
      </p:sp>
      <p:sp>
        <p:nvSpPr>
          <p:cNvPr id="296" name="Text 30"/>
          <p:cNvSpPr txBox="1"/>
          <p:nvPr/>
        </p:nvSpPr>
        <p:spPr>
          <a:xfrm>
            <a:off x="2542032" y="2946399"/>
            <a:ext cx="187452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LLMLingua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Compression</a:t>
            </a:r>
          </a:p>
        </p:txBody>
      </p:sp>
      <p:sp>
        <p:nvSpPr>
          <p:cNvPr id="297" name="Text 31"/>
          <p:cNvSpPr txBox="1"/>
          <p:nvPr/>
        </p:nvSpPr>
        <p:spPr>
          <a:xfrm>
            <a:off x="2542032" y="3403598"/>
            <a:ext cx="18745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GPTCache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Routing</a:t>
            </a:r>
          </a:p>
        </p:txBody>
      </p:sp>
      <p:sp>
        <p:nvSpPr>
          <p:cNvPr id="298" name="Text 32"/>
          <p:cNvSpPr txBox="1"/>
          <p:nvPr/>
        </p:nvSpPr>
        <p:spPr>
          <a:xfrm>
            <a:off x="4754879" y="2020614"/>
            <a:ext cx="187452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Agent C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NL Test Plan</a:t>
            </a:r>
          </a:p>
        </p:txBody>
      </p:sp>
      <p:sp>
        <p:nvSpPr>
          <p:cNvPr id="299" name="Text 33"/>
          <p:cNvSpPr txBox="1"/>
          <p:nvPr/>
        </p:nvSpPr>
        <p:spPr>
          <a:xfrm>
            <a:off x="4754879" y="2477814"/>
            <a:ext cx="187452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Agent D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SVA Synthesis</a:t>
            </a:r>
          </a:p>
        </p:txBody>
      </p:sp>
      <p:sp>
        <p:nvSpPr>
          <p:cNvPr id="300" name="Text 35"/>
          <p:cNvSpPr txBox="1"/>
          <p:nvPr/>
        </p:nvSpPr>
        <p:spPr>
          <a:xfrm>
            <a:off x="4739385" y="2946399"/>
            <a:ext cx="187452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Groq API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(Fast Format)</a:t>
            </a:r>
          </a:p>
        </p:txBody>
      </p:sp>
      <p:sp>
        <p:nvSpPr>
          <p:cNvPr id="301" name="Text 36"/>
          <p:cNvSpPr txBox="1"/>
          <p:nvPr/>
        </p:nvSpPr>
        <p:spPr>
          <a:xfrm>
            <a:off x="4754879" y="3392213"/>
            <a:ext cx="18745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Cache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Deduplication</a:t>
            </a:r>
          </a:p>
        </p:txBody>
      </p:sp>
      <p:sp>
        <p:nvSpPr>
          <p:cNvPr id="302" name="Text 37"/>
          <p:cNvSpPr txBox="1"/>
          <p:nvPr/>
        </p:nvSpPr>
        <p:spPr>
          <a:xfrm>
            <a:off x="6967728" y="2020614"/>
            <a:ext cx="192024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Phase 1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Alias Validation</a:t>
            </a:r>
          </a:p>
        </p:txBody>
      </p:sp>
      <p:sp>
        <p:nvSpPr>
          <p:cNvPr id="303" name="Text 38"/>
          <p:cNvSpPr txBox="1"/>
          <p:nvPr/>
        </p:nvSpPr>
        <p:spPr>
          <a:xfrm>
            <a:off x="6967728" y="2477814"/>
            <a:ext cx="192024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Phase 2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Verible Syntax</a:t>
            </a:r>
          </a:p>
        </p:txBody>
      </p:sp>
      <p:sp>
        <p:nvSpPr>
          <p:cNvPr id="304" name="Text 39"/>
          <p:cNvSpPr txBox="1"/>
          <p:nvPr/>
        </p:nvSpPr>
        <p:spPr>
          <a:xfrm>
            <a:off x="6967728" y="2935014"/>
            <a:ext cx="192024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LLM Repair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Loop</a:t>
            </a:r>
          </a:p>
        </p:txBody>
      </p:sp>
      <p:sp>
        <p:nvSpPr>
          <p:cNvPr id="305" name="Text 40"/>
          <p:cNvSpPr txBox="1"/>
          <p:nvPr/>
        </p:nvSpPr>
        <p:spPr>
          <a:xfrm>
            <a:off x="6967728" y="3392213"/>
            <a:ext cx="192024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Accepted SVAs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.sva files</a:t>
            </a:r>
          </a:p>
        </p:txBody>
      </p:sp>
      <p:sp>
        <p:nvSpPr>
          <p:cNvPr id="306" name="Text 41"/>
          <p:cNvSpPr txBox="1"/>
          <p:nvPr/>
        </p:nvSpPr>
        <p:spPr>
          <a:xfrm>
            <a:off x="6967728" y="3849413"/>
            <a:ext cx="192024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Diagnostics</a:t>
            </a:r>
          </a:p>
          <a:p>
            <a:pPr algn="ctr">
              <a:defRPr b="0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JSON Reports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9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Stage 1 — Knowledge Graph Construction</a:t>
            </a:r>
          </a:p>
        </p:txBody>
      </p:sp>
      <p:sp>
        <p:nvSpPr>
          <p:cNvPr id="310" name="Shape 3"/>
          <p:cNvSpPr/>
          <p:nvPr/>
        </p:nvSpPr>
        <p:spPr>
          <a:xfrm>
            <a:off x="320038" y="804672"/>
            <a:ext cx="3977644" cy="406908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1" name="Shape 4"/>
          <p:cNvSpPr/>
          <p:nvPr/>
        </p:nvSpPr>
        <p:spPr>
          <a:xfrm>
            <a:off x="4480558" y="804672"/>
            <a:ext cx="4343403" cy="406908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2" name="Text 5"/>
          <p:cNvSpPr txBox="1"/>
          <p:nvPr/>
        </p:nvSpPr>
        <p:spPr>
          <a:xfrm>
            <a:off x="411478" y="938022"/>
            <a:ext cx="379476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Spec-Side: GraphRAG + Domain Schema</a:t>
            </a:r>
          </a:p>
        </p:txBody>
      </p:sp>
      <p:sp>
        <p:nvSpPr>
          <p:cNvPr id="313" name="Text 6"/>
          <p:cNvSpPr txBox="1"/>
          <p:nvPr/>
        </p:nvSpPr>
        <p:spPr>
          <a:xfrm>
            <a:off x="411478" y="1438455"/>
            <a:ext cx="379476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Entity Types (E</a:t>
            </a:r>
            <a:r>
              <a:rPr sz="900"/>
              <a:t>t</a:t>
            </a:r>
            <a:r>
              <a:t>): </a:t>
            </a:r>
          </a:p>
        </p:txBody>
      </p:sp>
      <p:sp>
        <p:nvSpPr>
          <p:cNvPr id="314" name="Text 7"/>
          <p:cNvSpPr txBox="1"/>
          <p:nvPr/>
        </p:nvSpPr>
        <p:spPr>
          <a:xfrm>
            <a:off x="411478" y="1683687"/>
            <a:ext cx="3794763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Module · Signal · Port · Register · FIFO · Clock · Interrupt · FSM · Protocol · Constraint</a:t>
            </a:r>
          </a:p>
        </p:txBody>
      </p:sp>
      <p:sp>
        <p:nvSpPr>
          <p:cNvPr id="315" name="Text 8"/>
          <p:cNvSpPr txBox="1"/>
          <p:nvPr/>
        </p:nvSpPr>
        <p:spPr>
          <a:xfrm>
            <a:off x="411478" y="2389431"/>
            <a:ext cx="379476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0D2B52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Relation Types (R</a:t>
            </a:r>
            <a:r>
              <a:rPr sz="900"/>
              <a:t>t</a:t>
            </a:r>
            <a:r>
              <a:t>): </a:t>
            </a:r>
          </a:p>
        </p:txBody>
      </p:sp>
      <p:sp>
        <p:nvSpPr>
          <p:cNvPr id="316" name="Text 9"/>
          <p:cNvSpPr txBox="1"/>
          <p:nvPr/>
        </p:nvSpPr>
        <p:spPr>
          <a:xfrm>
            <a:off x="411478" y="2643807"/>
            <a:ext cx="3794763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connectsTo · defines · triggers · dependsOn · HasSignal · UsesClock · DescribesOperation · transmitsData · corresponds_to</a:t>
            </a:r>
          </a:p>
        </p:txBody>
      </p:sp>
      <p:sp>
        <p:nvSpPr>
          <p:cNvPr id="317" name="Text 11"/>
          <p:cNvSpPr txBox="1"/>
          <p:nvPr/>
        </p:nvSpPr>
        <p:spPr>
          <a:xfrm>
            <a:off x="4571999" y="938022"/>
            <a:ext cx="41605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RTL-Side: PyVerilog Parser</a:t>
            </a:r>
          </a:p>
        </p:txBody>
      </p:sp>
      <p:sp>
        <p:nvSpPr>
          <p:cNvPr id="318" name="Shape 12"/>
          <p:cNvSpPr/>
          <p:nvPr/>
        </p:nvSpPr>
        <p:spPr>
          <a:xfrm>
            <a:off x="4590288" y="1416010"/>
            <a:ext cx="146307" cy="146307"/>
          </a:xfrm>
          <a:prstGeom prst="ellipse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E88E5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9" name="Text 13"/>
          <p:cNvSpPr txBox="1"/>
          <p:nvPr/>
        </p:nvSpPr>
        <p:spPr>
          <a:xfrm>
            <a:off x="4828032" y="1435745"/>
            <a:ext cx="3913633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Module structure — AST traversal;</a:t>
            </a:r>
          </a:p>
          <a:p>
            <a: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ports (direction, width);</a:t>
            </a:r>
          </a:p>
          <a:p>
            <a: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module instantiations</a:t>
            </a:r>
          </a:p>
        </p:txBody>
      </p:sp>
      <p:sp>
        <p:nvSpPr>
          <p:cNvPr id="320" name="Shape 20"/>
          <p:cNvSpPr/>
          <p:nvPr/>
        </p:nvSpPr>
        <p:spPr>
          <a:xfrm>
            <a:off x="4578349" y="2187676"/>
            <a:ext cx="146308" cy="146307"/>
          </a:xfrm>
          <a:prstGeom prst="ellipse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E88E5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1" name="Text 21"/>
          <p:cNvSpPr txBox="1"/>
          <p:nvPr/>
        </p:nvSpPr>
        <p:spPr>
          <a:xfrm>
            <a:off x="4828032" y="2193694"/>
            <a:ext cx="391363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KG refinement — RTL info merged into G₀ to enrich spec-side graph</a:t>
            </a:r>
          </a:p>
        </p:txBody>
      </p:sp>
      <p:sp>
        <p:nvSpPr>
          <p:cNvPr id="322" name="Text 22"/>
          <p:cNvSpPr txBox="1"/>
          <p:nvPr/>
        </p:nvSpPr>
        <p:spPr>
          <a:xfrm>
            <a:off x="320039" y="4635913"/>
            <a:ext cx="8412482" cy="192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Spec KG + RTL KG  →  Unified Knowledge Graph G = (V, E)</a:t>
            </a:r>
          </a:p>
        </p:txBody>
      </p:sp>
      <p:sp>
        <p:nvSpPr>
          <p:cNvPr id="323" name="Shape 23"/>
          <p:cNvSpPr/>
          <p:nvPr/>
        </p:nvSpPr>
        <p:spPr>
          <a:xfrm>
            <a:off x="320040" y="4571999"/>
            <a:ext cx="8503920" cy="320043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4" name="Text 24"/>
          <p:cNvSpPr txBox="1"/>
          <p:nvPr/>
        </p:nvSpPr>
        <p:spPr>
          <a:xfrm>
            <a:off x="320040" y="4635913"/>
            <a:ext cx="8503920" cy="192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Spec KG + RTL KG  →  Unified Knowledge Graph G = (V, 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7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Signal Mapping — Bridging Spec &amp; RTL</a:t>
            </a:r>
          </a:p>
        </p:txBody>
      </p:sp>
      <p:sp>
        <p:nvSpPr>
          <p:cNvPr id="328" name="Shape 3"/>
          <p:cNvSpPr/>
          <p:nvPr/>
        </p:nvSpPr>
        <p:spPr>
          <a:xfrm>
            <a:off x="365759" y="804672"/>
            <a:ext cx="8412482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9" name="Text 4"/>
          <p:cNvSpPr txBox="1"/>
          <p:nvPr/>
        </p:nvSpPr>
        <p:spPr>
          <a:xfrm>
            <a:off x="502919" y="973127"/>
            <a:ext cx="82296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i="1" sz="1200">
                <a:solidFill>
                  <a:schemeClr val="accent2">
                    <a:lumOff val="-8941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"system reset" in spec  ↔  nRST / rst_n in RTL — without alignment, generated SVAs reference non-existent signals</a:t>
            </a:r>
          </a:p>
        </p:txBody>
      </p:sp>
      <p:sp>
        <p:nvSpPr>
          <p:cNvPr id="330" name="Shape 5"/>
          <p:cNvSpPr/>
          <p:nvPr/>
        </p:nvSpPr>
        <p:spPr>
          <a:xfrm>
            <a:off x="365758" y="1554480"/>
            <a:ext cx="384052" cy="384051"/>
          </a:xfrm>
          <a:prstGeom prst="ellipse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1" name="Text 6"/>
          <p:cNvSpPr txBox="1"/>
          <p:nvPr/>
        </p:nvSpPr>
        <p:spPr>
          <a:xfrm>
            <a:off x="365758" y="1651823"/>
            <a:ext cx="38405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32" name="Text 7"/>
          <p:cNvSpPr txBox="1"/>
          <p:nvPr/>
        </p:nvSpPr>
        <p:spPr>
          <a:xfrm>
            <a:off x="868680" y="1560322"/>
            <a:ext cx="32004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0D2B52"/>
                </a:solidFill>
              </a:defRPr>
            </a:lvl1pPr>
          </a:lstStyle>
          <a:p>
            <a:pPr/>
            <a:r>
              <a:t>Input Extraction</a:t>
            </a:r>
          </a:p>
        </p:txBody>
      </p:sp>
      <p:sp>
        <p:nvSpPr>
          <p:cNvPr id="333" name="Text 8"/>
          <p:cNvSpPr txBox="1"/>
          <p:nvPr/>
        </p:nvSpPr>
        <p:spPr>
          <a:xfrm>
            <a:off x="868680" y="1807639"/>
            <a:ext cx="7818119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Spec entities from KG node types (SIGNAL, PORT, REGISTER, CLOCK)</a:t>
            </a:r>
          </a:p>
          <a:p>
            <a: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RTL module ports &amp; internal signals from PyVerilog</a:t>
            </a:r>
          </a:p>
        </p:txBody>
      </p:sp>
      <p:sp>
        <p:nvSpPr>
          <p:cNvPr id="334" name="Shape 9"/>
          <p:cNvSpPr/>
          <p:nvPr/>
        </p:nvSpPr>
        <p:spPr>
          <a:xfrm>
            <a:off x="530351" y="1975104"/>
            <a:ext cx="54866" cy="365762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5" name="Shape 10"/>
          <p:cNvSpPr/>
          <p:nvPr/>
        </p:nvSpPr>
        <p:spPr>
          <a:xfrm>
            <a:off x="365758" y="2423160"/>
            <a:ext cx="384052" cy="384051"/>
          </a:xfrm>
          <a:prstGeom prst="ellipse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6" name="Text 11"/>
          <p:cNvSpPr txBox="1"/>
          <p:nvPr/>
        </p:nvSpPr>
        <p:spPr>
          <a:xfrm>
            <a:off x="365758" y="2520503"/>
            <a:ext cx="38405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37" name="Text 12"/>
          <p:cNvSpPr txBox="1"/>
          <p:nvPr/>
        </p:nvSpPr>
        <p:spPr>
          <a:xfrm>
            <a:off x="868680" y="2441701"/>
            <a:ext cx="32004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0D2B52"/>
                </a:solidFill>
              </a:defRPr>
            </a:lvl1pPr>
          </a:lstStyle>
          <a:p>
            <a:pPr/>
            <a:r>
              <a:t>LLM Semantic Alignment</a:t>
            </a:r>
          </a:p>
        </p:txBody>
      </p:sp>
      <p:sp>
        <p:nvSpPr>
          <p:cNvPr id="338" name="Text 13"/>
          <p:cNvSpPr txBox="1"/>
          <p:nvPr/>
        </p:nvSpPr>
        <p:spPr>
          <a:xfrm>
            <a:off x="868680" y="2663619"/>
            <a:ext cx="7818119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LLM receives mentions + RTL signals + local spec context</a:t>
            </a:r>
          </a:p>
          <a:p>
            <a: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Outputs JSON: canonical_name · rtl_name · confidence · active_low · match_method</a:t>
            </a:r>
          </a:p>
        </p:txBody>
      </p:sp>
      <p:sp>
        <p:nvSpPr>
          <p:cNvPr id="339" name="Shape 14"/>
          <p:cNvSpPr/>
          <p:nvPr/>
        </p:nvSpPr>
        <p:spPr>
          <a:xfrm>
            <a:off x="530351" y="2843783"/>
            <a:ext cx="54866" cy="365762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0" name="Shape 15"/>
          <p:cNvSpPr/>
          <p:nvPr/>
        </p:nvSpPr>
        <p:spPr>
          <a:xfrm>
            <a:off x="365758" y="3291840"/>
            <a:ext cx="384052" cy="384051"/>
          </a:xfrm>
          <a:prstGeom prst="ellipse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1" name="Text 16"/>
          <p:cNvSpPr txBox="1"/>
          <p:nvPr/>
        </p:nvSpPr>
        <p:spPr>
          <a:xfrm>
            <a:off x="365758" y="3389183"/>
            <a:ext cx="38405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2" name="Text 17"/>
          <p:cNvSpPr txBox="1"/>
          <p:nvPr/>
        </p:nvSpPr>
        <p:spPr>
          <a:xfrm>
            <a:off x="868680" y="3297682"/>
            <a:ext cx="32004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0D2B52"/>
                </a:solidFill>
              </a:defRPr>
            </a:lvl1pPr>
          </a:lstStyle>
          <a:p>
            <a:pPr/>
            <a:r>
              <a:t>Alias Table Construction</a:t>
            </a:r>
          </a:p>
        </p:txBody>
      </p:sp>
      <p:sp>
        <p:nvSpPr>
          <p:cNvPr id="343" name="Text 18"/>
          <p:cNvSpPr txBox="1"/>
          <p:nvPr/>
        </p:nvSpPr>
        <p:spPr>
          <a:xfrm>
            <a:off x="868680" y="3532299"/>
            <a:ext cx="7818119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Fast lookup: RTL signal → canonical name</a:t>
            </a:r>
          </a:p>
          <a:p>
            <a: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Normalises naming variants; basis for fuzzy fallback matching</a:t>
            </a:r>
          </a:p>
        </p:txBody>
      </p:sp>
      <p:sp>
        <p:nvSpPr>
          <p:cNvPr id="344" name="Shape 19"/>
          <p:cNvSpPr/>
          <p:nvPr/>
        </p:nvSpPr>
        <p:spPr>
          <a:xfrm>
            <a:off x="530351" y="3712464"/>
            <a:ext cx="54866" cy="365762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5" name="Shape 20"/>
          <p:cNvSpPr/>
          <p:nvPr/>
        </p:nvSpPr>
        <p:spPr>
          <a:xfrm>
            <a:off x="365758" y="4160520"/>
            <a:ext cx="384052" cy="384051"/>
          </a:xfrm>
          <a:prstGeom prst="ellipse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6" name="Text 21"/>
          <p:cNvSpPr txBox="1"/>
          <p:nvPr/>
        </p:nvSpPr>
        <p:spPr>
          <a:xfrm>
            <a:off x="365758" y="4257864"/>
            <a:ext cx="38405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47" name="Text 22"/>
          <p:cNvSpPr txBox="1"/>
          <p:nvPr/>
        </p:nvSpPr>
        <p:spPr>
          <a:xfrm>
            <a:off x="868680" y="4179060"/>
            <a:ext cx="320040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0D2B52"/>
                </a:solidFill>
              </a:defRPr>
            </a:lvl1pPr>
          </a:lstStyle>
          <a:p>
            <a:pPr/>
            <a:r>
              <a:t>Confidence Gating (≥ 0.7)</a:t>
            </a:r>
          </a:p>
        </p:txBody>
      </p:sp>
      <p:sp>
        <p:nvSpPr>
          <p:cNvPr id="348" name="Text 23"/>
          <p:cNvSpPr txBox="1"/>
          <p:nvPr/>
        </p:nvSpPr>
        <p:spPr>
          <a:xfrm>
            <a:off x="868680" y="4413679"/>
            <a:ext cx="7818119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HIGH: inject corresponds_to edges into Unified KG</a:t>
            </a:r>
          </a:p>
          <a:p>
            <a: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LOW: string-based substring similarity → references edges</a:t>
            </a:r>
          </a:p>
        </p:txBody>
      </p:sp>
      <p:sp>
        <p:nvSpPr>
          <p:cNvPr id="349" name="Shape 24"/>
          <p:cNvSpPr/>
          <p:nvPr/>
        </p:nvSpPr>
        <p:spPr>
          <a:xfrm>
            <a:off x="6141720" y="1825752"/>
            <a:ext cx="2514602" cy="2148841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50" name="Text 25"/>
          <p:cNvSpPr txBox="1"/>
          <p:nvPr/>
        </p:nvSpPr>
        <p:spPr>
          <a:xfrm>
            <a:off x="6263640" y="1942592"/>
            <a:ext cx="242316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Key Artifacts</a:t>
            </a:r>
          </a:p>
        </p:txBody>
      </p:sp>
      <p:sp>
        <p:nvSpPr>
          <p:cNvPr id="351" name="Text 26"/>
          <p:cNvSpPr txBox="1"/>
          <p:nvPr/>
        </p:nvSpPr>
        <p:spPr>
          <a:xfrm>
            <a:off x="6263640" y="2338627"/>
            <a:ext cx="2423162" cy="153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000">
                <a:solidFill>
                  <a:srgbClr val="FFFFFF"/>
                </a:solidFill>
              </a:defRPr>
            </a:lvl1pPr>
          </a:lstStyle>
          <a:p>
            <a:pPr/>
            <a:r>
              <a:t>▸ signal_aliases.json</a:t>
            </a:r>
          </a:p>
        </p:txBody>
      </p:sp>
      <p:sp>
        <p:nvSpPr>
          <p:cNvPr id="352" name="Text 27"/>
          <p:cNvSpPr txBox="1"/>
          <p:nvPr/>
        </p:nvSpPr>
        <p:spPr>
          <a:xfrm>
            <a:off x="6263640" y="2676955"/>
            <a:ext cx="2423162" cy="153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000">
                <a:solidFill>
                  <a:srgbClr val="FFFFFF"/>
                </a:solidFill>
              </a:defRPr>
            </a:lvl1pPr>
          </a:lstStyle>
          <a:p>
            <a:pPr/>
            <a:r>
              <a:t>▸ alias_lookup_table.json</a:t>
            </a:r>
          </a:p>
        </p:txBody>
      </p:sp>
      <p:sp>
        <p:nvSpPr>
          <p:cNvPr id="353" name="Text 28"/>
          <p:cNvSpPr txBox="1"/>
          <p:nvPr/>
        </p:nvSpPr>
        <p:spPr>
          <a:xfrm>
            <a:off x="6263640" y="3015283"/>
            <a:ext cx="2423162" cy="153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000">
                <a:solidFill>
                  <a:srgbClr val="FFFFFF"/>
                </a:solidFill>
              </a:defRPr>
            </a:lvl1pPr>
          </a:lstStyle>
          <a:p>
            <a:pPr/>
            <a:r>
              <a:t>▸ signal_mapping_decisions.json</a:t>
            </a:r>
          </a:p>
        </p:txBody>
      </p:sp>
      <p:sp>
        <p:nvSpPr>
          <p:cNvPr id="354" name="Text 29"/>
          <p:cNvSpPr txBox="1"/>
          <p:nvPr/>
        </p:nvSpPr>
        <p:spPr>
          <a:xfrm>
            <a:off x="6263640" y="3353610"/>
            <a:ext cx="2423162" cy="153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000">
                <a:solidFill>
                  <a:srgbClr val="FFFFFF"/>
                </a:solidFill>
              </a:defRPr>
            </a:lvl1pPr>
          </a:lstStyle>
          <a:p>
            <a:pPr/>
            <a:r>
              <a:t>▸ alignment_full_prompt.txt</a:t>
            </a:r>
          </a:p>
        </p:txBody>
      </p:sp>
      <p:sp>
        <p:nvSpPr>
          <p:cNvPr id="355" name="Text 30"/>
          <p:cNvSpPr txBox="1"/>
          <p:nvPr/>
        </p:nvSpPr>
        <p:spPr>
          <a:xfrm>
            <a:off x="6263640" y="3691937"/>
            <a:ext cx="2423162" cy="15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000">
                <a:solidFill>
                  <a:srgbClr val="FFFFFF"/>
                </a:solidFill>
              </a:defRPr>
            </a:lvl1pPr>
          </a:lstStyle>
          <a:p>
            <a:pPr/>
            <a:r>
              <a:t>▸ signal_mapping_overview.json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8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Stage 3 — SVA Generation</a:t>
            </a:r>
          </a:p>
        </p:txBody>
      </p:sp>
      <p:sp>
        <p:nvSpPr>
          <p:cNvPr id="359" name="Text 3"/>
          <p:cNvSpPr txBox="1"/>
          <p:nvPr/>
        </p:nvSpPr>
        <p:spPr>
          <a:xfrm>
            <a:off x="365759" y="888746"/>
            <a:ext cx="8229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Two-Step Generation via Groq</a:t>
            </a:r>
          </a:p>
        </p:txBody>
      </p:sp>
      <p:sp>
        <p:nvSpPr>
          <p:cNvPr id="360" name="Shape 4"/>
          <p:cNvSpPr/>
          <p:nvPr/>
        </p:nvSpPr>
        <p:spPr>
          <a:xfrm>
            <a:off x="365759" y="1298447"/>
            <a:ext cx="8412482" cy="150876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1" name="Shape 5"/>
          <p:cNvSpPr/>
          <p:nvPr/>
        </p:nvSpPr>
        <p:spPr>
          <a:xfrm>
            <a:off x="365759" y="1298447"/>
            <a:ext cx="914401" cy="150876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2" name="Text 6"/>
          <p:cNvSpPr txBox="1"/>
          <p:nvPr/>
        </p:nvSpPr>
        <p:spPr>
          <a:xfrm>
            <a:off x="365759" y="1969446"/>
            <a:ext cx="9144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Step 1</a:t>
            </a:r>
          </a:p>
        </p:txBody>
      </p:sp>
      <p:sp>
        <p:nvSpPr>
          <p:cNvPr id="363" name="Text 7"/>
          <p:cNvSpPr txBox="1"/>
          <p:nvPr/>
        </p:nvSpPr>
        <p:spPr>
          <a:xfrm>
            <a:off x="1417319" y="1552447"/>
            <a:ext cx="713231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Natural Language Test Plan</a:t>
            </a:r>
          </a:p>
        </p:txBody>
      </p:sp>
      <p:sp>
        <p:nvSpPr>
          <p:cNvPr id="364" name="Text 8"/>
          <p:cNvSpPr txBox="1"/>
          <p:nvPr/>
        </p:nvSpPr>
        <p:spPr>
          <a:xfrm>
            <a:off x="1417319" y="1814374"/>
            <a:ext cx="713231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LLM generates human-readable verification intents from pruned context</a:t>
            </a:r>
          </a:p>
        </p:txBody>
      </p:sp>
      <p:sp>
        <p:nvSpPr>
          <p:cNvPr id="365" name="Text 9"/>
          <p:cNvSpPr txBox="1"/>
          <p:nvPr/>
        </p:nvSpPr>
        <p:spPr>
          <a:xfrm>
            <a:off x="1417318" y="2208320"/>
            <a:ext cx="640080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i="1" sz="1000">
                <a:solidFill>
                  <a:schemeClr val="accent2">
                    <a:lumOff val="-8941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e.g. "Verify that TX_EMPTY asserts when the FIFO count reaches zero"</a:t>
            </a:r>
          </a:p>
        </p:txBody>
      </p:sp>
      <p:sp>
        <p:nvSpPr>
          <p:cNvPr id="366" name="Text 10"/>
          <p:cNvSpPr txBox="1"/>
          <p:nvPr/>
        </p:nvSpPr>
        <p:spPr>
          <a:xfrm>
            <a:off x="7223759" y="2422668"/>
            <a:ext cx="1417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0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 nl_plans.txt</a:t>
            </a:r>
          </a:p>
        </p:txBody>
      </p:sp>
      <p:sp>
        <p:nvSpPr>
          <p:cNvPr id="367" name="Shape 11"/>
          <p:cNvSpPr/>
          <p:nvPr/>
        </p:nvSpPr>
        <p:spPr>
          <a:xfrm>
            <a:off x="365759" y="3017520"/>
            <a:ext cx="8412482" cy="150876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8" name="Shape 12"/>
          <p:cNvSpPr/>
          <p:nvPr/>
        </p:nvSpPr>
        <p:spPr>
          <a:xfrm>
            <a:off x="365759" y="3017520"/>
            <a:ext cx="914401" cy="150876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E88E5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9" name="Text 13"/>
          <p:cNvSpPr txBox="1"/>
          <p:nvPr/>
        </p:nvSpPr>
        <p:spPr>
          <a:xfrm>
            <a:off x="365759" y="3688517"/>
            <a:ext cx="914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Step 2</a:t>
            </a:r>
          </a:p>
        </p:txBody>
      </p:sp>
      <p:sp>
        <p:nvSpPr>
          <p:cNvPr id="370" name="Text 14"/>
          <p:cNvSpPr txBox="1"/>
          <p:nvPr/>
        </p:nvSpPr>
        <p:spPr>
          <a:xfrm>
            <a:off x="1417319" y="3255483"/>
            <a:ext cx="713231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SVA Synthesis</a:t>
            </a:r>
          </a:p>
        </p:txBody>
      </p:sp>
      <p:sp>
        <p:nvSpPr>
          <p:cNvPr id="371" name="Text 15"/>
          <p:cNvSpPr txBox="1"/>
          <p:nvPr/>
        </p:nvSpPr>
        <p:spPr>
          <a:xfrm>
            <a:off x="1417319" y="3549160"/>
            <a:ext cx="7132319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0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Each NL plan → formal SystemVerilog Assertion</a:t>
            </a:r>
          </a:p>
          <a:p>
            <a:pPr>
              <a:defRPr b="0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Prompt includes correct SVA syntax examples as few-shot guidance</a:t>
            </a:r>
          </a:p>
        </p:txBody>
      </p:sp>
      <p:sp>
        <p:nvSpPr>
          <p:cNvPr id="372" name="Text 16"/>
          <p:cNvSpPr txBox="1"/>
          <p:nvPr/>
        </p:nvSpPr>
        <p:spPr>
          <a:xfrm>
            <a:off x="1417318" y="4146294"/>
            <a:ext cx="640080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i="1" sz="1000">
                <a:solidFill>
                  <a:schemeClr val="accent2">
                    <a:lumOff val="-8941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e.g. @(posedge PCLK) ((PADDR &gt;= 24) &amp;&amp; (PADDR &lt;= 31)) &amp;&amp; (PENABLE) |-&gt; ((PADDR &gt;= 0) ...</a:t>
            </a:r>
          </a:p>
        </p:txBody>
      </p:sp>
      <p:sp>
        <p:nvSpPr>
          <p:cNvPr id="373" name="Text 17"/>
          <p:cNvSpPr txBox="1"/>
          <p:nvPr/>
        </p:nvSpPr>
        <p:spPr>
          <a:xfrm>
            <a:off x="6986478" y="4155690"/>
            <a:ext cx="16546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0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 property_goldmine_N.sva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chemeClr val="accent2">
                    <a:lumOff val="-8941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6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KG as Robust Agent Memory (P2)</a:t>
            </a:r>
          </a:p>
        </p:txBody>
      </p:sp>
      <p:sp>
        <p:nvSpPr>
          <p:cNvPr id="377" name="Text 3"/>
          <p:cNvSpPr txBox="1"/>
          <p:nvPr/>
        </p:nvSpPr>
        <p:spPr>
          <a:xfrm>
            <a:off x="365759" y="910589"/>
            <a:ext cx="841248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i="1" sz="1300">
                <a:solidFill>
                  <a:srgbClr val="0A1929"/>
                </a:solidFill>
              </a:defRPr>
            </a:lvl1pPr>
          </a:lstStyle>
          <a:p>
            <a:pPr/>
            <a:r>
              <a:t>Traditional RAG fails when causal hardware logic is fragmented across semantic chunks.</a:t>
            </a:r>
          </a:p>
        </p:txBody>
      </p:sp>
      <p:sp>
        <p:nvSpPr>
          <p:cNvPr id="378" name="Shape 4"/>
          <p:cNvSpPr/>
          <p:nvPr/>
        </p:nvSpPr>
        <p:spPr>
          <a:xfrm>
            <a:off x="365759" y="1325880"/>
            <a:ext cx="8412482" cy="146304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9" name="Shape 5"/>
          <p:cNvSpPr/>
          <p:nvPr/>
        </p:nvSpPr>
        <p:spPr>
          <a:xfrm>
            <a:off x="365759" y="1325880"/>
            <a:ext cx="1005839" cy="146304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chemeClr val="accent2">
                    <a:lumOff val="-8941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Text 6"/>
          <p:cNvSpPr txBox="1"/>
          <p:nvPr/>
        </p:nvSpPr>
        <p:spPr>
          <a:xfrm>
            <a:off x="365759" y="1962719"/>
            <a:ext cx="100583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RQ1.4</a:t>
            </a:r>
          </a:p>
        </p:txBody>
      </p:sp>
      <p:sp>
        <p:nvSpPr>
          <p:cNvPr id="381" name="Text 7"/>
          <p:cNvSpPr txBox="1"/>
          <p:nvPr/>
        </p:nvSpPr>
        <p:spPr>
          <a:xfrm>
            <a:off x="1463039" y="1452880"/>
            <a:ext cx="713231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Memory Representation &amp; Fidelity</a:t>
            </a:r>
          </a:p>
        </p:txBody>
      </p:sp>
      <p:sp>
        <p:nvSpPr>
          <p:cNvPr id="382" name="Text 8"/>
          <p:cNvSpPr txBox="1"/>
          <p:nvPr/>
        </p:nvSpPr>
        <p:spPr>
          <a:xfrm>
            <a:off x="1463039" y="1985062"/>
            <a:ext cx="7132319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Structured entity-relation schemas (E_t, R_t) outperform flat embeddings.</a:t>
            </a:r>
          </a:p>
          <a:p>
            <a: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KG enforces relational memory — updates are edge insertions/attribute changes, not vector dilution.</a:t>
            </a:r>
          </a:p>
          <a:p>
            <a: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Causal links (clock-domain crossings, nested resets) preserved reliably.</a:t>
            </a:r>
          </a:p>
        </p:txBody>
      </p:sp>
      <p:sp>
        <p:nvSpPr>
          <p:cNvPr id="383" name="Shape 9"/>
          <p:cNvSpPr/>
          <p:nvPr/>
        </p:nvSpPr>
        <p:spPr>
          <a:xfrm>
            <a:off x="365759" y="2971799"/>
            <a:ext cx="8412482" cy="1463043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4" name="Shape 10"/>
          <p:cNvSpPr/>
          <p:nvPr/>
        </p:nvSpPr>
        <p:spPr>
          <a:xfrm>
            <a:off x="365759" y="2971799"/>
            <a:ext cx="1005839" cy="1463043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chemeClr val="accent2">
                    <a:lumOff val="-8941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5" name="Text 11"/>
          <p:cNvSpPr txBox="1"/>
          <p:nvPr/>
        </p:nvSpPr>
        <p:spPr>
          <a:xfrm>
            <a:off x="365759" y="3608639"/>
            <a:ext cx="100583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RQ1.6</a:t>
            </a:r>
          </a:p>
        </p:txBody>
      </p:sp>
      <p:sp>
        <p:nvSpPr>
          <p:cNvPr id="386" name="Text 12"/>
          <p:cNvSpPr txBox="1"/>
          <p:nvPr/>
        </p:nvSpPr>
        <p:spPr>
          <a:xfrm>
            <a:off x="1463039" y="3098800"/>
            <a:ext cx="713231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Task-Adaptive Memory Granularity</a:t>
            </a:r>
          </a:p>
        </p:txBody>
      </p:sp>
      <p:sp>
        <p:nvSpPr>
          <p:cNvPr id="387" name="Text 13"/>
          <p:cNvSpPr txBox="1"/>
          <p:nvPr/>
        </p:nvSpPr>
        <p:spPr>
          <a:xfrm>
            <a:off x="1463039" y="3630983"/>
            <a:ext cx="7132319" cy="5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Broad Test Planning (Agent C): coarse-grained SSR at 800+ token chunks.</a:t>
            </a:r>
          </a:p>
          <a:p>
            <a: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Precise SVA Synthesis (Agent D): GRW-AS extracts exact causal chains (TX_EMPTY → apb → PRESETn).</a:t>
            </a:r>
          </a:p>
          <a:p>
            <a: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LLMLingua applies high compression to verbose spec memory, keeps RTL memory intact.</a:t>
            </a:r>
          </a:p>
        </p:txBody>
      </p:sp>
      <p:sp>
        <p:nvSpPr>
          <p:cNvPr id="388" name="Shape 14"/>
          <p:cNvSpPr/>
          <p:nvPr/>
        </p:nvSpPr>
        <p:spPr>
          <a:xfrm>
            <a:off x="365759" y="4681728"/>
            <a:ext cx="8412482" cy="32004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9" name="Text 15"/>
          <p:cNvSpPr txBox="1"/>
          <p:nvPr/>
        </p:nvSpPr>
        <p:spPr>
          <a:xfrm>
            <a:off x="502919" y="4758742"/>
            <a:ext cx="8229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i="1" sz="1200">
                <a:solidFill>
                  <a:schemeClr val="accent2">
                    <a:lumOff val="-8941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Memory structure: Spec Vectors (semantic) + RTL AST (structural) → fused inside Unified KG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LLMLingua — Prompt Compression (P1 + P3)</a:t>
            </a:r>
          </a:p>
        </p:txBody>
      </p:sp>
      <p:sp>
        <p:nvSpPr>
          <p:cNvPr id="393" name="Text 3"/>
          <p:cNvSpPr txBox="1"/>
          <p:nvPr/>
        </p:nvSpPr>
        <p:spPr>
          <a:xfrm>
            <a:off x="365759" y="866578"/>
            <a:ext cx="841248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3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Coarse-to-fine prompt compression: small LM computes token perplexity → prunes low-information tokens → compressed prompt to GPT-4o / Groq.</a:t>
            </a:r>
          </a:p>
        </p:txBody>
      </p:sp>
      <p:grpSp>
        <p:nvGrpSpPr>
          <p:cNvPr id="396" name="Google Shape;230;p26"/>
          <p:cNvGrpSpPr/>
          <p:nvPr/>
        </p:nvGrpSpPr>
        <p:grpSpPr>
          <a:xfrm>
            <a:off x="381000" y="1609597"/>
            <a:ext cx="4000502" cy="1428903"/>
            <a:chOff x="0" y="0"/>
            <a:chExt cx="4000501" cy="1428902"/>
          </a:xfrm>
        </p:grpSpPr>
        <p:sp>
          <p:nvSpPr>
            <p:cNvPr id="394" name="Google Shape;231;p26"/>
            <p:cNvSpPr/>
            <p:nvPr/>
          </p:nvSpPr>
          <p:spPr>
            <a:xfrm>
              <a:off x="0" y="-1"/>
              <a:ext cx="4000502" cy="1428903"/>
            </a:xfrm>
            <a:prstGeom prst="roundRect">
              <a:avLst>
                <a:gd name="adj" fmla="val 5333"/>
              </a:avLst>
            </a:prstGeom>
            <a:solidFill>
              <a:schemeClr val="accent2">
                <a:lumOff val="-8941"/>
              </a:schemeClr>
            </a:solidFill>
            <a:ln w="9525" cap="flat">
              <a:solidFill>
                <a:srgbClr val="44444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95" name="Google Shape;232;p26"/>
            <p:cNvSpPr txBox="1"/>
            <p:nvPr/>
          </p:nvSpPr>
          <p:spPr>
            <a:xfrm>
              <a:off x="190499" y="190500"/>
              <a:ext cx="3619503" cy="927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200">
                  <a:solidFill>
                    <a:srgbClr val="A7A7A7"/>
                  </a:solidFill>
                </a:defRPr>
              </a:pPr>
              <a:r>
                <a:t>Overall Statistics</a:t>
              </a:r>
            </a:p>
            <a:p>
              <a:pPr>
                <a:spcBef>
                  <a:spcPts val="1100"/>
                </a:spcBef>
                <a:defRPr sz="1200">
                  <a:solidFill>
                    <a:srgbClr val="E0E0E0"/>
                  </a:solidFill>
                </a:defRPr>
              </a:pPr>
              <a:r>
                <a:t>Tokens w/o LLMLingua: </a:t>
              </a:r>
              <a:r>
                <a:rPr>
                  <a:solidFill>
                    <a:srgbClr val="03DAC6"/>
                  </a:solidFill>
                </a:rPr>
                <a:t>4616</a:t>
              </a:r>
            </a:p>
            <a:p>
              <a:pPr>
                <a:spcBef>
                  <a:spcPts val="300"/>
                </a:spcBef>
                <a:defRPr sz="1200">
                  <a:solidFill>
                    <a:srgbClr val="E0E0E0"/>
                  </a:solidFill>
                </a:defRPr>
              </a:pPr>
              <a:r>
                <a:t>Tokens w/ LLMLingua: </a:t>
              </a:r>
              <a:r>
                <a:rPr>
                  <a:solidFill>
                    <a:srgbClr val="03DAC6"/>
                  </a:solidFill>
                </a:rPr>
                <a:t>3876</a:t>
              </a:r>
            </a:p>
            <a:p>
              <a:pPr>
                <a:spcBef>
                  <a:spcPts val="300"/>
                </a:spcBef>
                <a:defRPr sz="1200">
                  <a:solidFill>
                    <a:srgbClr val="E0E0E0"/>
                  </a:solidFill>
                </a:defRPr>
              </a:pPr>
              <a:r>
                <a:t>Total Reduction: </a:t>
              </a:r>
              <a:r>
                <a:rPr>
                  <a:solidFill>
                    <a:srgbClr val="FF7597"/>
                  </a:solidFill>
                </a:rPr>
                <a:t>16.03%</a:t>
              </a:r>
            </a:p>
          </p:txBody>
        </p:sp>
      </p:grpSp>
      <p:sp>
        <p:nvSpPr>
          <p:cNvPr id="397" name="Google Shape;233;p26"/>
          <p:cNvSpPr txBox="1"/>
          <p:nvPr/>
        </p:nvSpPr>
        <p:spPr>
          <a:xfrm>
            <a:off x="381000" y="3285997"/>
            <a:ext cx="83820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800"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Detailed Breakdown</a:t>
            </a:r>
          </a:p>
        </p:txBody>
      </p:sp>
      <p:grpSp>
        <p:nvGrpSpPr>
          <p:cNvPr id="402" name="Google Shape;234;p26"/>
          <p:cNvGrpSpPr/>
          <p:nvPr/>
        </p:nvGrpSpPr>
        <p:grpSpPr>
          <a:xfrm>
            <a:off x="380998" y="3705097"/>
            <a:ext cx="8382004" cy="762002"/>
            <a:chOff x="-1" y="0"/>
            <a:chExt cx="8382001" cy="762001"/>
          </a:xfrm>
        </p:grpSpPr>
        <p:sp>
          <p:nvSpPr>
            <p:cNvPr id="398" name="Google Shape;235;p26"/>
            <p:cNvSpPr/>
            <p:nvPr/>
          </p:nvSpPr>
          <p:spPr>
            <a:xfrm>
              <a:off x="-2" y="0"/>
              <a:ext cx="4000503" cy="762002"/>
            </a:xfrm>
            <a:prstGeom prst="roundRect">
              <a:avLst>
                <a:gd name="adj" fmla="val 5000"/>
              </a:avLst>
            </a:prstGeom>
            <a:solidFill>
              <a:schemeClr val="accent2">
                <a:lumOff val="-894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chemeClr val="accent2">
                      <a:lumOff val="-8941"/>
                    </a:schemeClr>
                  </a:solidFill>
                </a:defRPr>
              </a:pPr>
            </a:p>
          </p:txBody>
        </p:sp>
        <p:sp>
          <p:nvSpPr>
            <p:cNvPr id="399" name="Google Shape;236;p26"/>
            <p:cNvSpPr txBox="1"/>
            <p:nvPr/>
          </p:nvSpPr>
          <p:spPr>
            <a:xfrm>
              <a:off x="142873" y="184149"/>
              <a:ext cx="3714902" cy="393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sz="1200">
                  <a:solidFill>
                    <a:srgbClr val="03DAC6"/>
                  </a:solidFill>
                </a:defRPr>
              </a:pPr>
              <a:r>
                <a:t>Dynamic NL Generation</a:t>
              </a:r>
            </a:p>
            <a:p>
              <a:pPr>
                <a:spcBef>
                  <a:spcPts val="300"/>
                </a:spcBef>
                <a:defRPr sz="1200">
                  <a:solidFill>
                    <a:srgbClr val="E0E0E0"/>
                  </a:solidFill>
                </a:defRPr>
              </a:pPr>
              <a:r>
                <a:t>Origin: 2163 | Compressed: 1807</a:t>
              </a:r>
            </a:p>
          </p:txBody>
        </p:sp>
        <p:sp>
          <p:nvSpPr>
            <p:cNvPr id="400" name="Google Shape;237;p26"/>
            <p:cNvSpPr/>
            <p:nvPr/>
          </p:nvSpPr>
          <p:spPr>
            <a:xfrm>
              <a:off x="4381500" y="0"/>
              <a:ext cx="4000501" cy="762002"/>
            </a:xfrm>
            <a:prstGeom prst="roundRect">
              <a:avLst>
                <a:gd name="adj" fmla="val 5000"/>
              </a:avLst>
            </a:prstGeom>
            <a:solidFill>
              <a:schemeClr val="accent2">
                <a:lumOff val="-894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1" name="Google Shape;238;p26"/>
            <p:cNvSpPr txBox="1"/>
            <p:nvPr/>
          </p:nvSpPr>
          <p:spPr>
            <a:xfrm>
              <a:off x="4524375" y="184149"/>
              <a:ext cx="3714901" cy="393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sz="1200">
                  <a:solidFill>
                    <a:srgbClr val="03DAC6"/>
                  </a:solidFill>
                </a:defRPr>
              </a:pPr>
              <a:r>
                <a:t>Dynamic SVA Generation</a:t>
              </a:r>
            </a:p>
            <a:p>
              <a:pPr>
                <a:spcBef>
                  <a:spcPts val="300"/>
                </a:spcBef>
                <a:defRPr sz="1200">
                  <a:solidFill>
                    <a:srgbClr val="E0E0E0"/>
                  </a:solidFill>
                </a:defRPr>
              </a:pPr>
              <a:r>
                <a:t>Origin: 2453 | Compressed: 2069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5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Multiagent Orchestration with GPTCache (P3 + P4)</a:t>
            </a:r>
          </a:p>
        </p:txBody>
      </p:sp>
      <p:sp>
        <p:nvSpPr>
          <p:cNvPr id="406" name="Text 3"/>
          <p:cNvSpPr txBox="1"/>
          <p:nvPr/>
        </p:nvSpPr>
        <p:spPr>
          <a:xfrm>
            <a:off x="365759" y="910589"/>
            <a:ext cx="841248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i="1" sz="1300">
                <a:solidFill>
                  <a:srgbClr val="0A1929"/>
                </a:solidFill>
              </a:defRPr>
            </a:lvl1pPr>
          </a:lstStyle>
          <a:p>
            <a:pPr/>
            <a:r>
              <a:t>Eliminates redundant cloud API calls by storing and retrieving semantically similar prompt responses.</a:t>
            </a:r>
          </a:p>
        </p:txBody>
      </p:sp>
      <p:sp>
        <p:nvSpPr>
          <p:cNvPr id="407" name="Shape 4"/>
          <p:cNvSpPr/>
          <p:nvPr/>
        </p:nvSpPr>
        <p:spPr>
          <a:xfrm>
            <a:off x="320040" y="1325880"/>
            <a:ext cx="1188720" cy="77724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8" name="Text 5"/>
          <p:cNvSpPr txBox="1"/>
          <p:nvPr/>
        </p:nvSpPr>
        <p:spPr>
          <a:xfrm>
            <a:off x="320040" y="1569388"/>
            <a:ext cx="118872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Query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+Prompt</a:t>
            </a:r>
          </a:p>
        </p:txBody>
      </p:sp>
      <p:sp>
        <p:nvSpPr>
          <p:cNvPr id="409" name="Text 6"/>
          <p:cNvSpPr txBox="1"/>
          <p:nvPr/>
        </p:nvSpPr>
        <p:spPr>
          <a:xfrm>
            <a:off x="1527047" y="1611964"/>
            <a:ext cx="41148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sz="18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0" name="Shape 7"/>
          <p:cNvSpPr/>
          <p:nvPr/>
        </p:nvSpPr>
        <p:spPr>
          <a:xfrm>
            <a:off x="1645920" y="1325880"/>
            <a:ext cx="1188722" cy="77724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1" name="Text 8"/>
          <p:cNvSpPr txBox="1"/>
          <p:nvPr/>
        </p:nvSpPr>
        <p:spPr>
          <a:xfrm>
            <a:off x="1645920" y="1569388"/>
            <a:ext cx="118872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Embedding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Generator</a:t>
            </a:r>
          </a:p>
        </p:txBody>
      </p:sp>
      <p:sp>
        <p:nvSpPr>
          <p:cNvPr id="412" name="Text 9"/>
          <p:cNvSpPr txBox="1"/>
          <p:nvPr/>
        </p:nvSpPr>
        <p:spPr>
          <a:xfrm>
            <a:off x="2852927" y="1611964"/>
            <a:ext cx="411483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sz="18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3" name="Shape 10"/>
          <p:cNvSpPr/>
          <p:nvPr/>
        </p:nvSpPr>
        <p:spPr>
          <a:xfrm>
            <a:off x="3246120" y="1325880"/>
            <a:ext cx="1188722" cy="77724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4" name="Text 11"/>
          <p:cNvSpPr txBox="1"/>
          <p:nvPr/>
        </p:nvSpPr>
        <p:spPr>
          <a:xfrm>
            <a:off x="3246120" y="1569388"/>
            <a:ext cx="118872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Similarity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Evaluator</a:t>
            </a:r>
          </a:p>
        </p:txBody>
      </p:sp>
      <p:sp>
        <p:nvSpPr>
          <p:cNvPr id="415" name="Text 12"/>
          <p:cNvSpPr txBox="1"/>
          <p:nvPr/>
        </p:nvSpPr>
        <p:spPr>
          <a:xfrm>
            <a:off x="4453128" y="1611964"/>
            <a:ext cx="41148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sz="18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6" name="Shape 13"/>
          <p:cNvSpPr/>
          <p:nvPr/>
        </p:nvSpPr>
        <p:spPr>
          <a:xfrm>
            <a:off x="4846320" y="1325880"/>
            <a:ext cx="1188722" cy="77724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7" name="Text 14"/>
          <p:cNvSpPr txBox="1"/>
          <p:nvPr/>
        </p:nvSpPr>
        <p:spPr>
          <a:xfrm>
            <a:off x="4846320" y="1569388"/>
            <a:ext cx="118872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Cache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Hit?</a:t>
            </a:r>
          </a:p>
        </p:txBody>
      </p:sp>
      <p:sp>
        <p:nvSpPr>
          <p:cNvPr id="418" name="Text 15"/>
          <p:cNvSpPr txBox="1"/>
          <p:nvPr/>
        </p:nvSpPr>
        <p:spPr>
          <a:xfrm>
            <a:off x="6250163" y="1654355"/>
            <a:ext cx="82296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YES →</a:t>
            </a:r>
          </a:p>
        </p:txBody>
      </p:sp>
      <p:sp>
        <p:nvSpPr>
          <p:cNvPr id="419" name="Shape 16"/>
          <p:cNvSpPr/>
          <p:nvPr/>
        </p:nvSpPr>
        <p:spPr>
          <a:xfrm>
            <a:off x="6903718" y="1325880"/>
            <a:ext cx="1828802" cy="77724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Text 17"/>
          <p:cNvSpPr txBox="1"/>
          <p:nvPr/>
        </p:nvSpPr>
        <p:spPr>
          <a:xfrm>
            <a:off x="6903718" y="1569388"/>
            <a:ext cx="182880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Return Cached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Response (0ms)</a:t>
            </a:r>
          </a:p>
        </p:txBody>
      </p:sp>
      <p:sp>
        <p:nvSpPr>
          <p:cNvPr id="421" name="Text 18"/>
          <p:cNvSpPr txBox="1"/>
          <p:nvPr/>
        </p:nvSpPr>
        <p:spPr>
          <a:xfrm>
            <a:off x="5208946" y="2216711"/>
            <a:ext cx="73152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NO ↓</a:t>
            </a:r>
          </a:p>
        </p:txBody>
      </p:sp>
      <p:sp>
        <p:nvSpPr>
          <p:cNvPr id="422" name="Shape 19"/>
          <p:cNvSpPr/>
          <p:nvPr/>
        </p:nvSpPr>
        <p:spPr>
          <a:xfrm>
            <a:off x="4846320" y="2487166"/>
            <a:ext cx="1188722" cy="77724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Text 20"/>
          <p:cNvSpPr txBox="1"/>
          <p:nvPr/>
        </p:nvSpPr>
        <p:spPr>
          <a:xfrm>
            <a:off x="4846320" y="2730675"/>
            <a:ext cx="118872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Call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Cloud LLM</a:t>
            </a:r>
          </a:p>
        </p:txBody>
      </p:sp>
      <p:sp>
        <p:nvSpPr>
          <p:cNvPr id="424" name="Text 21"/>
          <p:cNvSpPr txBox="1"/>
          <p:nvPr/>
        </p:nvSpPr>
        <p:spPr>
          <a:xfrm>
            <a:off x="6183864" y="2767506"/>
            <a:ext cx="201167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 Store → Return</a:t>
            </a:r>
          </a:p>
        </p:txBody>
      </p:sp>
      <p:sp>
        <p:nvSpPr>
          <p:cNvPr id="425" name="Text 22"/>
          <p:cNvSpPr txBox="1"/>
          <p:nvPr/>
        </p:nvSpPr>
        <p:spPr>
          <a:xfrm>
            <a:off x="365759" y="3459988"/>
            <a:ext cx="84124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0D2B52"/>
                </a:solidFill>
              </a:defRPr>
            </a:lvl1pPr>
          </a:lstStyle>
          <a:p>
            <a:pPr/>
            <a:r>
              <a:t>Problems Addressed:</a:t>
            </a:r>
          </a:p>
        </p:txBody>
      </p:sp>
      <p:sp>
        <p:nvSpPr>
          <p:cNvPr id="426" name="Shape 23"/>
          <p:cNvSpPr/>
          <p:nvPr/>
        </p:nvSpPr>
        <p:spPr>
          <a:xfrm>
            <a:off x="384047" y="3767328"/>
            <a:ext cx="128019" cy="128019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7" name="Text 24"/>
          <p:cNvSpPr txBox="1"/>
          <p:nvPr/>
        </p:nvSpPr>
        <p:spPr>
          <a:xfrm>
            <a:off x="594359" y="3764202"/>
            <a:ext cx="8229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RQ1.7 — Minimizes information transfer; cached responses bypass full prompt re-transmission</a:t>
            </a:r>
          </a:p>
        </p:txBody>
      </p:sp>
      <p:sp>
        <p:nvSpPr>
          <p:cNvPr id="428" name="Shape 25"/>
          <p:cNvSpPr/>
          <p:nvPr/>
        </p:nvSpPr>
        <p:spPr>
          <a:xfrm>
            <a:off x="384047" y="3977640"/>
            <a:ext cx="128019" cy="128019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9" name="Text 26"/>
          <p:cNvSpPr txBox="1"/>
          <p:nvPr/>
        </p:nvSpPr>
        <p:spPr>
          <a:xfrm>
            <a:off x="594359" y="3974513"/>
            <a:ext cx="8229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RQ2.2 — Early redundancy detection; intercepts repeated queries before reaching LLM</a:t>
            </a:r>
          </a:p>
        </p:txBody>
      </p:sp>
      <p:sp>
        <p:nvSpPr>
          <p:cNvPr id="430" name="Shape 27"/>
          <p:cNvSpPr/>
          <p:nvPr/>
        </p:nvSpPr>
        <p:spPr>
          <a:xfrm>
            <a:off x="384047" y="4187952"/>
            <a:ext cx="128019" cy="128019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Text 28"/>
          <p:cNvSpPr txBox="1"/>
          <p:nvPr/>
        </p:nvSpPr>
        <p:spPr>
          <a:xfrm>
            <a:off x="594359" y="4184825"/>
            <a:ext cx="8229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RQ2.4 — Prompt mapping via embedding-based similarity; reuses results above threshold</a:t>
            </a:r>
          </a:p>
        </p:txBody>
      </p:sp>
      <p:sp>
        <p:nvSpPr>
          <p:cNvPr id="432" name="Shape 29"/>
          <p:cNvSpPr/>
          <p:nvPr/>
        </p:nvSpPr>
        <p:spPr>
          <a:xfrm>
            <a:off x="384047" y="4398264"/>
            <a:ext cx="128019" cy="128019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3" name="Text 30"/>
          <p:cNvSpPr txBox="1"/>
          <p:nvPr/>
        </p:nvSpPr>
        <p:spPr>
          <a:xfrm>
            <a:off x="594359" y="4395137"/>
            <a:ext cx="8229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RQ2.5 — Flexible caching granularity: prompt-level or chunk-level</a:t>
            </a:r>
          </a:p>
        </p:txBody>
      </p:sp>
      <p:sp>
        <p:nvSpPr>
          <p:cNvPr id="434" name="Shape 31"/>
          <p:cNvSpPr/>
          <p:nvPr/>
        </p:nvSpPr>
        <p:spPr>
          <a:xfrm>
            <a:off x="384047" y="4608576"/>
            <a:ext cx="128019" cy="128019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5" name="Text 32"/>
          <p:cNvSpPr txBox="1"/>
          <p:nvPr/>
        </p:nvSpPr>
        <p:spPr>
          <a:xfrm>
            <a:off x="594359" y="4605449"/>
            <a:ext cx="8229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Cache key = hash(agent_id + prompt_version + exact context) → prevents cross-agent contamination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8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Multiagent Orchestration with GPTCache (P3 + P4)</a:t>
            </a:r>
          </a:p>
        </p:txBody>
      </p:sp>
      <p:sp>
        <p:nvSpPr>
          <p:cNvPr id="439" name="Text 3"/>
          <p:cNvSpPr txBox="1"/>
          <p:nvPr/>
        </p:nvSpPr>
        <p:spPr>
          <a:xfrm>
            <a:off x="365758" y="1808628"/>
            <a:ext cx="841248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i="1" sz="1300">
                <a:solidFill>
                  <a:srgbClr val="0A1929"/>
                </a:solidFill>
              </a:defRPr>
            </a:lvl1pPr>
          </a:lstStyle>
          <a:p>
            <a:pPr/>
            <a:r>
              <a:t>Task decomposition + specialisation to improve assertion quality while maintaining cloud efficiency.</a:t>
            </a:r>
          </a:p>
        </p:txBody>
      </p:sp>
      <p:sp>
        <p:nvSpPr>
          <p:cNvPr id="440" name="Shape 4"/>
          <p:cNvSpPr/>
          <p:nvPr/>
        </p:nvSpPr>
        <p:spPr>
          <a:xfrm>
            <a:off x="320038" y="2205631"/>
            <a:ext cx="1554482" cy="91440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1" name="Text 5"/>
          <p:cNvSpPr txBox="1"/>
          <p:nvPr/>
        </p:nvSpPr>
        <p:spPr>
          <a:xfrm>
            <a:off x="320038" y="2309702"/>
            <a:ext cx="15544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Agent A</a:t>
            </a:r>
          </a:p>
        </p:txBody>
      </p:sp>
      <p:sp>
        <p:nvSpPr>
          <p:cNvPr id="442" name="Text 6"/>
          <p:cNvSpPr txBox="1"/>
          <p:nvPr/>
        </p:nvSpPr>
        <p:spPr>
          <a:xfrm>
            <a:off x="320038" y="2654878"/>
            <a:ext cx="155448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1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Spec</a:t>
            </a:r>
          </a:p>
          <a:p>
            <a:pPr algn="ctr">
              <a:defRPr b="0" sz="11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Understanding</a:t>
            </a:r>
          </a:p>
        </p:txBody>
      </p:sp>
      <p:sp>
        <p:nvSpPr>
          <p:cNvPr id="443" name="Text 7"/>
          <p:cNvSpPr txBox="1"/>
          <p:nvPr/>
        </p:nvSpPr>
        <p:spPr>
          <a:xfrm>
            <a:off x="320038" y="3197798"/>
            <a:ext cx="15544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i="1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→Gemini</a:t>
            </a:r>
          </a:p>
        </p:txBody>
      </p:sp>
      <p:sp>
        <p:nvSpPr>
          <p:cNvPr id="444" name="Shape 8"/>
          <p:cNvSpPr/>
          <p:nvPr/>
        </p:nvSpPr>
        <p:spPr>
          <a:xfrm>
            <a:off x="2057399" y="2205631"/>
            <a:ext cx="1554482" cy="91440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5" name="Text 9"/>
          <p:cNvSpPr txBox="1"/>
          <p:nvPr/>
        </p:nvSpPr>
        <p:spPr>
          <a:xfrm>
            <a:off x="2057399" y="2309702"/>
            <a:ext cx="15544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Agent B</a:t>
            </a:r>
          </a:p>
        </p:txBody>
      </p:sp>
      <p:sp>
        <p:nvSpPr>
          <p:cNvPr id="446" name="Text 10"/>
          <p:cNvSpPr txBox="1"/>
          <p:nvPr/>
        </p:nvSpPr>
        <p:spPr>
          <a:xfrm>
            <a:off x="2057399" y="2654878"/>
            <a:ext cx="155448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1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RTL</a:t>
            </a:r>
          </a:p>
          <a:p>
            <a:pPr algn="ctr">
              <a:defRPr b="0" sz="11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Grounding</a:t>
            </a:r>
          </a:p>
        </p:txBody>
      </p:sp>
      <p:sp>
        <p:nvSpPr>
          <p:cNvPr id="447" name="Text 11"/>
          <p:cNvSpPr txBox="1"/>
          <p:nvPr/>
        </p:nvSpPr>
        <p:spPr>
          <a:xfrm>
            <a:off x="2057399" y="3197798"/>
            <a:ext cx="15544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i="1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→Gemini</a:t>
            </a:r>
          </a:p>
        </p:txBody>
      </p:sp>
      <p:sp>
        <p:nvSpPr>
          <p:cNvPr id="448" name="Shape 12"/>
          <p:cNvSpPr/>
          <p:nvPr/>
        </p:nvSpPr>
        <p:spPr>
          <a:xfrm>
            <a:off x="3794759" y="2205631"/>
            <a:ext cx="1554482" cy="91440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E88E5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9" name="Text 13"/>
          <p:cNvSpPr txBox="1"/>
          <p:nvPr/>
        </p:nvSpPr>
        <p:spPr>
          <a:xfrm>
            <a:off x="3794759" y="2309702"/>
            <a:ext cx="15544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Agent C</a:t>
            </a:r>
          </a:p>
        </p:txBody>
      </p:sp>
      <p:sp>
        <p:nvSpPr>
          <p:cNvPr id="450" name="Text 14"/>
          <p:cNvSpPr txBox="1"/>
          <p:nvPr/>
        </p:nvSpPr>
        <p:spPr>
          <a:xfrm>
            <a:off x="3794759" y="2654878"/>
            <a:ext cx="155448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1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Test</a:t>
            </a:r>
          </a:p>
          <a:p>
            <a:pPr algn="ctr">
              <a:defRPr b="0" sz="11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Planner</a:t>
            </a:r>
          </a:p>
        </p:txBody>
      </p:sp>
      <p:sp>
        <p:nvSpPr>
          <p:cNvPr id="451" name="Text 15"/>
          <p:cNvSpPr txBox="1"/>
          <p:nvPr/>
        </p:nvSpPr>
        <p:spPr>
          <a:xfrm>
            <a:off x="3794759" y="3197798"/>
            <a:ext cx="15544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i="1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→Groq</a:t>
            </a:r>
          </a:p>
        </p:txBody>
      </p:sp>
      <p:sp>
        <p:nvSpPr>
          <p:cNvPr id="452" name="Shape 16"/>
          <p:cNvSpPr/>
          <p:nvPr/>
        </p:nvSpPr>
        <p:spPr>
          <a:xfrm>
            <a:off x="5532118" y="2205631"/>
            <a:ext cx="1554482" cy="91440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277BD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3" name="Text 17"/>
          <p:cNvSpPr txBox="1"/>
          <p:nvPr/>
        </p:nvSpPr>
        <p:spPr>
          <a:xfrm>
            <a:off x="5532118" y="2309702"/>
            <a:ext cx="15544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Agent D</a:t>
            </a:r>
          </a:p>
        </p:txBody>
      </p:sp>
      <p:sp>
        <p:nvSpPr>
          <p:cNvPr id="454" name="Text 18"/>
          <p:cNvSpPr txBox="1"/>
          <p:nvPr/>
        </p:nvSpPr>
        <p:spPr>
          <a:xfrm>
            <a:off x="5532118" y="2654878"/>
            <a:ext cx="155448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1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SVA</a:t>
            </a:r>
          </a:p>
          <a:p>
            <a:pPr algn="ctr">
              <a:defRPr b="0" sz="11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Synthesizer</a:t>
            </a:r>
          </a:p>
        </p:txBody>
      </p:sp>
      <p:sp>
        <p:nvSpPr>
          <p:cNvPr id="455" name="Text 19"/>
          <p:cNvSpPr txBox="1"/>
          <p:nvPr/>
        </p:nvSpPr>
        <p:spPr>
          <a:xfrm>
            <a:off x="5532118" y="3197798"/>
            <a:ext cx="15544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i="1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→Groq</a:t>
            </a:r>
          </a:p>
        </p:txBody>
      </p:sp>
      <p:sp>
        <p:nvSpPr>
          <p:cNvPr id="456" name="Shape 20"/>
          <p:cNvSpPr/>
          <p:nvPr/>
        </p:nvSpPr>
        <p:spPr>
          <a:xfrm>
            <a:off x="7269480" y="2205631"/>
            <a:ext cx="1554482" cy="91440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04D40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7" name="Text 21"/>
          <p:cNvSpPr txBox="1"/>
          <p:nvPr/>
        </p:nvSpPr>
        <p:spPr>
          <a:xfrm>
            <a:off x="7269480" y="2309702"/>
            <a:ext cx="15544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Agent E</a:t>
            </a:r>
          </a:p>
        </p:txBody>
      </p:sp>
      <p:sp>
        <p:nvSpPr>
          <p:cNvPr id="458" name="Text 22"/>
          <p:cNvSpPr txBox="1"/>
          <p:nvPr/>
        </p:nvSpPr>
        <p:spPr>
          <a:xfrm>
            <a:off x="7269480" y="2654878"/>
            <a:ext cx="155448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0" sz="11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Referee /</a:t>
            </a:r>
          </a:p>
          <a:p>
            <a:pPr algn="ctr">
              <a:defRPr b="0" sz="1100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Checker</a:t>
            </a:r>
          </a:p>
        </p:txBody>
      </p:sp>
      <p:sp>
        <p:nvSpPr>
          <p:cNvPr id="459" name="Text 23"/>
          <p:cNvSpPr txBox="1"/>
          <p:nvPr/>
        </p:nvSpPr>
        <p:spPr>
          <a:xfrm>
            <a:off x="7269480" y="3197798"/>
            <a:ext cx="15544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i="1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→Gemini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2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Two-Phase Assertion Quality Gate</a:t>
            </a:r>
          </a:p>
        </p:txBody>
      </p:sp>
      <p:sp>
        <p:nvSpPr>
          <p:cNvPr id="463" name="Shape 4"/>
          <p:cNvSpPr/>
          <p:nvPr/>
        </p:nvSpPr>
        <p:spPr>
          <a:xfrm>
            <a:off x="365759" y="1044447"/>
            <a:ext cx="8412482" cy="150876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4" name="Shape 5"/>
          <p:cNvSpPr/>
          <p:nvPr/>
        </p:nvSpPr>
        <p:spPr>
          <a:xfrm>
            <a:off x="365759" y="1044447"/>
            <a:ext cx="1051562" cy="150876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5" name="Text 6"/>
          <p:cNvSpPr txBox="1"/>
          <p:nvPr/>
        </p:nvSpPr>
        <p:spPr>
          <a:xfrm>
            <a:off x="365759" y="1554986"/>
            <a:ext cx="105156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Phase 1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(Loop A)</a:t>
            </a:r>
          </a:p>
        </p:txBody>
      </p:sp>
      <p:sp>
        <p:nvSpPr>
          <p:cNvPr id="466" name="Text 7"/>
          <p:cNvSpPr txBox="1"/>
          <p:nvPr/>
        </p:nvSpPr>
        <p:spPr>
          <a:xfrm>
            <a:off x="1635760" y="1225802"/>
            <a:ext cx="68580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Semantic Alias Validation</a:t>
            </a:r>
          </a:p>
        </p:txBody>
      </p:sp>
      <p:sp>
        <p:nvSpPr>
          <p:cNvPr id="467" name="Text 8"/>
          <p:cNvSpPr txBox="1"/>
          <p:nvPr/>
        </p:nvSpPr>
        <p:spPr>
          <a:xfrm>
            <a:off x="1635760" y="1426688"/>
            <a:ext cx="68580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i="1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[ Phase 1 ]</a:t>
            </a:r>
          </a:p>
        </p:txBody>
      </p:sp>
      <p:sp>
        <p:nvSpPr>
          <p:cNvPr id="468" name="Text 9"/>
          <p:cNvSpPr txBox="1"/>
          <p:nvPr/>
        </p:nvSpPr>
        <p:spPr>
          <a:xfrm>
            <a:off x="1635760" y="1664768"/>
            <a:ext cx="6858001" cy="728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0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Extract candidate identifiers from SVA</a:t>
            </a:r>
          </a:p>
          <a:p>
            <a:pPr>
              <a:defRPr b="0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Compare with valid alias lookup table</a:t>
            </a:r>
          </a:p>
          <a:p>
            <a:pPr>
              <a:defRPr b="0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One repair attempt if invalid signals detected</a:t>
            </a:r>
          </a:p>
          <a:p>
            <a:pPr>
              <a:defRPr b="0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Why default-off: strict pre-filter over-rejects on noisy/generated corpora</a:t>
            </a:r>
          </a:p>
        </p:txBody>
      </p:sp>
      <p:sp>
        <p:nvSpPr>
          <p:cNvPr id="469" name="Shape 10"/>
          <p:cNvSpPr/>
          <p:nvPr/>
        </p:nvSpPr>
        <p:spPr>
          <a:xfrm>
            <a:off x="365759" y="2763520"/>
            <a:ext cx="8412482" cy="150876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0" name="Shape 11"/>
          <p:cNvSpPr/>
          <p:nvPr/>
        </p:nvSpPr>
        <p:spPr>
          <a:xfrm>
            <a:off x="365759" y="2763520"/>
            <a:ext cx="1051562" cy="150876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1" name="Text 12"/>
          <p:cNvSpPr txBox="1"/>
          <p:nvPr/>
        </p:nvSpPr>
        <p:spPr>
          <a:xfrm>
            <a:off x="365759" y="3274059"/>
            <a:ext cx="105156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Phase 2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(Loop B)</a:t>
            </a:r>
          </a:p>
        </p:txBody>
      </p:sp>
      <p:sp>
        <p:nvSpPr>
          <p:cNvPr id="472" name="Text 13"/>
          <p:cNvSpPr txBox="1"/>
          <p:nvPr/>
        </p:nvSpPr>
        <p:spPr>
          <a:xfrm>
            <a:off x="1635760" y="2982975"/>
            <a:ext cx="68580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Verible Syntax Check</a:t>
            </a:r>
          </a:p>
        </p:txBody>
      </p:sp>
      <p:sp>
        <p:nvSpPr>
          <p:cNvPr id="473" name="Text 14"/>
          <p:cNvSpPr txBox="1"/>
          <p:nvPr/>
        </p:nvSpPr>
        <p:spPr>
          <a:xfrm>
            <a:off x="1635760" y="3228892"/>
            <a:ext cx="68580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i="1" sz="1000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[ Phase 2 ]</a:t>
            </a:r>
          </a:p>
        </p:txBody>
      </p:sp>
      <p:sp>
        <p:nvSpPr>
          <p:cNvPr id="474" name="Text 15"/>
          <p:cNvSpPr txBox="1"/>
          <p:nvPr/>
        </p:nvSpPr>
        <p:spPr>
          <a:xfrm>
            <a:off x="1635760" y="3484877"/>
            <a:ext cx="685800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0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Wrap assertion in minimal valid SV module using RTL signals</a:t>
            </a:r>
          </a:p>
          <a:p>
            <a:pPr>
              <a:defRPr b="0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Run verible-verilog-syntax binary</a:t>
            </a:r>
          </a:p>
          <a:p>
            <a:pPr>
              <a:defRPr b="0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One repair attempt on failure</a:t>
            </a:r>
          </a:p>
        </p:txBody>
      </p:sp>
      <p:sp>
        <p:nvSpPr>
          <p:cNvPr id="475" name="Shape 16"/>
          <p:cNvSpPr/>
          <p:nvPr/>
        </p:nvSpPr>
        <p:spPr>
          <a:xfrm>
            <a:off x="365759" y="4681728"/>
            <a:ext cx="8412482" cy="32004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6" name="Text 17"/>
          <p:cNvSpPr txBox="1"/>
          <p:nvPr/>
        </p:nvSpPr>
        <p:spPr>
          <a:xfrm>
            <a:off x="457200" y="4770041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Outputs: accepted/  ·  discarded/  ·  reports/summary.json  ·  reports/detailed_results.json  ·  reports/logs/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9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Verible Syntax Validation &amp; Repair (P5)</a:t>
            </a:r>
          </a:p>
        </p:txBody>
      </p:sp>
      <p:sp>
        <p:nvSpPr>
          <p:cNvPr id="480" name="Text 3"/>
          <p:cNvSpPr txBox="1"/>
          <p:nvPr/>
        </p:nvSpPr>
        <p:spPr>
          <a:xfrm>
            <a:off x="365759" y="901446"/>
            <a:ext cx="841248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i="1" sz="1300">
                <a:solidFill>
                  <a:srgbClr val="0A1929"/>
                </a:solidFill>
              </a:defRPr>
            </a:lvl1pPr>
          </a:lstStyle>
          <a:p>
            <a:pPr/>
            <a:r>
              <a:t>Feedback-driven refinement loop using Verible — SystemVerilog-aware syntax checker.</a:t>
            </a:r>
          </a:p>
        </p:txBody>
      </p:sp>
      <p:sp>
        <p:nvSpPr>
          <p:cNvPr id="481" name="Text 4"/>
          <p:cNvSpPr txBox="1"/>
          <p:nvPr/>
        </p:nvSpPr>
        <p:spPr>
          <a:xfrm>
            <a:off x="365758" y="1317497"/>
            <a:ext cx="3931924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0D2B52"/>
                </a:solidFill>
              </a:defRPr>
            </a:lvl1pPr>
          </a:lstStyle>
          <a:p>
            <a:pPr/>
            <a:r>
              <a:t>Feedback Signals (RQ3.1):</a:t>
            </a:r>
          </a:p>
        </p:txBody>
      </p:sp>
      <p:sp>
        <p:nvSpPr>
          <p:cNvPr id="482" name="Shape 5"/>
          <p:cNvSpPr/>
          <p:nvPr/>
        </p:nvSpPr>
        <p:spPr>
          <a:xfrm>
            <a:off x="384047" y="1709420"/>
            <a:ext cx="137162" cy="137163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3" name="Text 6"/>
          <p:cNvSpPr txBox="1"/>
          <p:nvPr/>
        </p:nvSpPr>
        <p:spPr>
          <a:xfrm>
            <a:off x="594359" y="1713790"/>
            <a:ext cx="8229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Binary: SVA passes / fails syntax check (#SynC)</a:t>
            </a:r>
          </a:p>
        </p:txBody>
      </p:sp>
      <p:sp>
        <p:nvSpPr>
          <p:cNvPr id="484" name="Shape 7"/>
          <p:cNvSpPr/>
          <p:nvPr/>
        </p:nvSpPr>
        <p:spPr>
          <a:xfrm>
            <a:off x="384047" y="1993900"/>
            <a:ext cx="137162" cy="13716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5" name="Text 8"/>
          <p:cNvSpPr txBox="1"/>
          <p:nvPr/>
        </p:nvSpPr>
        <p:spPr>
          <a:xfrm>
            <a:off x="594359" y="1998271"/>
            <a:ext cx="82296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Structured: Verible stderr — precise diagnostics (e.g., missing clocking event, invalid operator)</a:t>
            </a:r>
          </a:p>
        </p:txBody>
      </p:sp>
      <p:sp>
        <p:nvSpPr>
          <p:cNvPr id="486" name="Shape 9"/>
          <p:cNvSpPr/>
          <p:nvPr/>
        </p:nvSpPr>
        <p:spPr>
          <a:xfrm>
            <a:off x="384047" y="2291078"/>
            <a:ext cx="137162" cy="137163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7" name="Text 10"/>
          <p:cNvSpPr txBox="1"/>
          <p:nvPr/>
        </p:nvSpPr>
        <p:spPr>
          <a:xfrm>
            <a:off x="594359" y="2282750"/>
            <a:ext cx="8229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Localized: Line-level error → identifies exact failing assertion fragment</a:t>
            </a:r>
          </a:p>
        </p:txBody>
      </p:sp>
      <p:sp>
        <p:nvSpPr>
          <p:cNvPr id="488" name="Text 11"/>
          <p:cNvSpPr txBox="1"/>
          <p:nvPr/>
        </p:nvSpPr>
        <p:spPr>
          <a:xfrm>
            <a:off x="365759" y="2836417"/>
            <a:ext cx="841248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0D2B52"/>
                </a:solidFill>
              </a:defRPr>
            </a:lvl1pPr>
          </a:lstStyle>
          <a:p>
            <a:pPr/>
            <a:r>
              <a:t>Repair Loop (RQ3.2):</a:t>
            </a:r>
          </a:p>
        </p:txBody>
      </p:sp>
      <p:sp>
        <p:nvSpPr>
          <p:cNvPr id="489" name="Shape 12"/>
          <p:cNvSpPr/>
          <p:nvPr/>
        </p:nvSpPr>
        <p:spPr>
          <a:xfrm>
            <a:off x="347472" y="3164839"/>
            <a:ext cx="1325882" cy="82296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0" name="Text 13"/>
          <p:cNvSpPr txBox="1"/>
          <p:nvPr/>
        </p:nvSpPr>
        <p:spPr>
          <a:xfrm>
            <a:off x="347472" y="3436618"/>
            <a:ext cx="132588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Generate SVA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from LLM</a:t>
            </a:r>
          </a:p>
        </p:txBody>
      </p:sp>
      <p:sp>
        <p:nvSpPr>
          <p:cNvPr id="491" name="Text 14"/>
          <p:cNvSpPr txBox="1"/>
          <p:nvPr/>
        </p:nvSpPr>
        <p:spPr>
          <a:xfrm>
            <a:off x="1691638" y="3504500"/>
            <a:ext cx="11887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92" name="Shape 15"/>
          <p:cNvSpPr/>
          <p:nvPr/>
        </p:nvSpPr>
        <p:spPr>
          <a:xfrm>
            <a:off x="1810511" y="3164839"/>
            <a:ext cx="1325881" cy="82296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3" name="Text 16"/>
          <p:cNvSpPr txBox="1"/>
          <p:nvPr/>
        </p:nvSpPr>
        <p:spPr>
          <a:xfrm>
            <a:off x="1810511" y="3436618"/>
            <a:ext cx="132588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Wrap in minimal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SV module</a:t>
            </a:r>
          </a:p>
        </p:txBody>
      </p:sp>
      <p:sp>
        <p:nvSpPr>
          <p:cNvPr id="494" name="Text 17"/>
          <p:cNvSpPr txBox="1"/>
          <p:nvPr/>
        </p:nvSpPr>
        <p:spPr>
          <a:xfrm>
            <a:off x="3154678" y="3504500"/>
            <a:ext cx="11887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95" name="Shape 18"/>
          <p:cNvSpPr/>
          <p:nvPr/>
        </p:nvSpPr>
        <p:spPr>
          <a:xfrm>
            <a:off x="3273552" y="3164839"/>
            <a:ext cx="1325882" cy="82296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C62828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6" name="Text 19"/>
          <p:cNvSpPr txBox="1"/>
          <p:nvPr/>
        </p:nvSpPr>
        <p:spPr>
          <a:xfrm>
            <a:off x="3273552" y="3436618"/>
            <a:ext cx="132588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Run Verible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syntax check</a:t>
            </a:r>
          </a:p>
        </p:txBody>
      </p:sp>
      <p:sp>
        <p:nvSpPr>
          <p:cNvPr id="497" name="Text 20"/>
          <p:cNvSpPr txBox="1"/>
          <p:nvPr/>
        </p:nvSpPr>
        <p:spPr>
          <a:xfrm>
            <a:off x="4617720" y="3504500"/>
            <a:ext cx="11887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98" name="Shape 21"/>
          <p:cNvSpPr/>
          <p:nvPr/>
        </p:nvSpPr>
        <p:spPr>
          <a:xfrm>
            <a:off x="4736591" y="3164839"/>
            <a:ext cx="1325882" cy="82296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9" name="Text 22"/>
          <p:cNvSpPr txBox="1"/>
          <p:nvPr/>
        </p:nvSpPr>
        <p:spPr>
          <a:xfrm>
            <a:off x="4736591" y="3436618"/>
            <a:ext cx="132588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Errors?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Extract snippet</a:t>
            </a:r>
          </a:p>
        </p:txBody>
      </p:sp>
      <p:sp>
        <p:nvSpPr>
          <p:cNvPr id="500" name="Text 23"/>
          <p:cNvSpPr txBox="1"/>
          <p:nvPr/>
        </p:nvSpPr>
        <p:spPr>
          <a:xfrm>
            <a:off x="6080759" y="3504500"/>
            <a:ext cx="11887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01" name="Shape 24"/>
          <p:cNvSpPr/>
          <p:nvPr/>
        </p:nvSpPr>
        <p:spPr>
          <a:xfrm>
            <a:off x="6199632" y="3164839"/>
            <a:ext cx="1325882" cy="82296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2" name="Text 25"/>
          <p:cNvSpPr txBox="1"/>
          <p:nvPr/>
        </p:nvSpPr>
        <p:spPr>
          <a:xfrm>
            <a:off x="6199632" y="3436618"/>
            <a:ext cx="132588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Build repair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prompt</a:t>
            </a:r>
          </a:p>
        </p:txBody>
      </p:sp>
      <p:sp>
        <p:nvSpPr>
          <p:cNvPr id="503" name="Text 26"/>
          <p:cNvSpPr txBox="1"/>
          <p:nvPr/>
        </p:nvSpPr>
        <p:spPr>
          <a:xfrm>
            <a:off x="7543799" y="3504500"/>
            <a:ext cx="11887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04" name="Shape 27"/>
          <p:cNvSpPr/>
          <p:nvPr/>
        </p:nvSpPr>
        <p:spPr>
          <a:xfrm>
            <a:off x="7662671" y="3164839"/>
            <a:ext cx="1325882" cy="822962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2E7D32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5" name="Text 28"/>
          <p:cNvSpPr txBox="1"/>
          <p:nvPr/>
        </p:nvSpPr>
        <p:spPr>
          <a:xfrm>
            <a:off x="7662671" y="3429556"/>
            <a:ext cx="1325882" cy="293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Re-invoke LLM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→ corrected SVA</a:t>
            </a:r>
          </a:p>
        </p:txBody>
      </p:sp>
      <p:sp>
        <p:nvSpPr>
          <p:cNvPr id="506" name="Text 29"/>
          <p:cNvSpPr txBox="1"/>
          <p:nvPr/>
        </p:nvSpPr>
        <p:spPr>
          <a:xfrm>
            <a:off x="365759" y="4139438"/>
            <a:ext cx="841248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0D2B52"/>
                </a:solidFill>
              </a:defRPr>
            </a:lvl1pPr>
          </a:lstStyle>
          <a:p>
            <a:pPr/>
            <a:r>
              <a:t>Safeguards (RQ3.3):</a:t>
            </a:r>
          </a:p>
        </p:txBody>
      </p:sp>
      <p:sp>
        <p:nvSpPr>
          <p:cNvPr id="507" name="Text 30"/>
          <p:cNvSpPr txBox="1"/>
          <p:nvPr/>
        </p:nvSpPr>
        <p:spPr>
          <a:xfrm>
            <a:off x="365759" y="4431336"/>
            <a:ext cx="841248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Local correction per-instance · Bounded repair iterations · Context preserved across iterations · Syntax decoupled from semantic generation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186;p22"/>
          <p:cNvSpPr txBox="1"/>
          <p:nvPr>
            <p:ph type="title"/>
          </p:nvPr>
        </p:nvSpPr>
        <p:spPr>
          <a:xfrm>
            <a:off x="460950" y="2152345"/>
            <a:ext cx="8222099" cy="838800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Results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2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Generated Test Plans</a:t>
            </a:r>
          </a:p>
        </p:txBody>
      </p:sp>
      <p:pic>
        <p:nvPicPr>
          <p:cNvPr id="513" name="Screenshot 2026-04-23 at 10.06.16 AM.png" descr="Screenshot 2026-04-23 at 10.06.16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6715" y="809623"/>
            <a:ext cx="7630570" cy="40914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6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Generated SVAs</a:t>
            </a:r>
          </a:p>
        </p:txBody>
      </p:sp>
      <p:pic>
        <p:nvPicPr>
          <p:cNvPr id="517" name="Screenshot 2026-04-23 at 10.07.48 AM.png" descr="Screenshot 2026-04-23 at 10.07.4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0304" y="881839"/>
            <a:ext cx="7123392" cy="38886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0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Signal Mapping Output</a:t>
            </a:r>
          </a:p>
        </p:txBody>
      </p:sp>
      <p:pic>
        <p:nvPicPr>
          <p:cNvPr id="521" name="Screenshot 2026-04-21 at 12.20.12 PM.png" descr="Screenshot 2026-04-21 at 12.20.1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9703" y="857291"/>
            <a:ext cx="8384594" cy="39339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4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LLMLingua Token Reduction Summary</a:t>
            </a:r>
          </a:p>
        </p:txBody>
      </p:sp>
      <p:pic>
        <p:nvPicPr>
          <p:cNvPr id="525" name="Screenshot 2026-04-21 at 12.20.41 PM.png" descr="Screenshot 2026-04-21 at 12.20.4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9449" y="804379"/>
            <a:ext cx="5245102" cy="41529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8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Verible Syntax Checking Results</a:t>
            </a:r>
          </a:p>
        </p:txBody>
      </p:sp>
      <p:pic>
        <p:nvPicPr>
          <p:cNvPr id="529" name="Screenshot 2026-04-21 at 12.19.28 PM.png" descr="Screenshot 2026-04-21 at 12.19.2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6612" y="1162040"/>
            <a:ext cx="8670777" cy="34308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Screenshot 2026-04-20 at 9.20.17 PM.png" descr="Screenshot 2026-04-20 at 9.20.1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45834" y="435921"/>
            <a:ext cx="5563878" cy="4614169"/>
          </a:xfrm>
          <a:prstGeom prst="rect">
            <a:avLst/>
          </a:prstGeom>
          <a:ln w="12700">
            <a:miter lim="400000"/>
          </a:ln>
        </p:spPr>
      </p:pic>
      <p:sp>
        <p:nvSpPr>
          <p:cNvPr id="532" name="Shape 0"/>
          <p:cNvSpPr/>
          <p:nvPr/>
        </p:nvSpPr>
        <p:spPr>
          <a:xfrm>
            <a:off x="0" y="4571"/>
            <a:ext cx="9144001" cy="685803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3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Visualizing Knowledge Graph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6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Addressing Core Challenges — P1 to P5 Summary</a:t>
            </a:r>
          </a:p>
        </p:txBody>
      </p:sp>
      <p:sp>
        <p:nvSpPr>
          <p:cNvPr id="537" name="Shape 3"/>
          <p:cNvSpPr/>
          <p:nvPr/>
        </p:nvSpPr>
        <p:spPr>
          <a:xfrm>
            <a:off x="365759" y="804671"/>
            <a:ext cx="8412482" cy="749811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8" name="Shape 4"/>
          <p:cNvSpPr/>
          <p:nvPr/>
        </p:nvSpPr>
        <p:spPr>
          <a:xfrm>
            <a:off x="365758" y="804671"/>
            <a:ext cx="713235" cy="749811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</a:defRPr>
            </a:pPr>
          </a:p>
        </p:txBody>
      </p:sp>
      <p:sp>
        <p:nvSpPr>
          <p:cNvPr id="539" name="Text 5"/>
          <p:cNvSpPr txBox="1"/>
          <p:nvPr/>
        </p:nvSpPr>
        <p:spPr>
          <a:xfrm>
            <a:off x="365758" y="1058752"/>
            <a:ext cx="713235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540" name="Text 6"/>
          <p:cNvSpPr txBox="1"/>
          <p:nvPr/>
        </p:nvSpPr>
        <p:spPr>
          <a:xfrm>
            <a:off x="1170432" y="906016"/>
            <a:ext cx="713232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Long-Context Limits</a:t>
            </a:r>
          </a:p>
        </p:txBody>
      </p:sp>
      <p:sp>
        <p:nvSpPr>
          <p:cNvPr id="541" name="Text 7"/>
          <p:cNvSpPr txBox="1"/>
          <p:nvPr/>
        </p:nvSpPr>
        <p:spPr>
          <a:xfrm>
            <a:off x="1170432" y="1189911"/>
            <a:ext cx="713232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KG node-to-node linking reduces irrelevant chunks · SSR multi-resolution retrieval · LLMLingua minimal context selection (RQ1.1)</a:t>
            </a:r>
          </a:p>
        </p:txBody>
      </p:sp>
      <p:sp>
        <p:nvSpPr>
          <p:cNvPr id="542" name="Shape 8"/>
          <p:cNvSpPr/>
          <p:nvPr/>
        </p:nvSpPr>
        <p:spPr>
          <a:xfrm>
            <a:off x="365759" y="1655064"/>
            <a:ext cx="8412482" cy="74981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3" name="Shape 9"/>
          <p:cNvSpPr/>
          <p:nvPr/>
        </p:nvSpPr>
        <p:spPr>
          <a:xfrm>
            <a:off x="365758" y="1655064"/>
            <a:ext cx="713235" cy="74981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565C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</a:defRPr>
            </a:pPr>
          </a:p>
        </p:txBody>
      </p:sp>
      <p:sp>
        <p:nvSpPr>
          <p:cNvPr id="544" name="Text 10"/>
          <p:cNvSpPr txBox="1"/>
          <p:nvPr/>
        </p:nvSpPr>
        <p:spPr>
          <a:xfrm>
            <a:off x="365758" y="1909143"/>
            <a:ext cx="713235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545" name="Text 11"/>
          <p:cNvSpPr txBox="1"/>
          <p:nvPr/>
        </p:nvSpPr>
        <p:spPr>
          <a:xfrm>
            <a:off x="1170432" y="1830322"/>
            <a:ext cx="713232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Agent Memory</a:t>
            </a:r>
          </a:p>
        </p:txBody>
      </p:sp>
      <p:sp>
        <p:nvSpPr>
          <p:cNvPr id="546" name="Text 12"/>
          <p:cNvSpPr txBox="1"/>
          <p:nvPr/>
        </p:nvSpPr>
        <p:spPr>
          <a:xfrm>
            <a:off x="1170432" y="2122853"/>
            <a:ext cx="713232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Unified KG as persistent cross-domain memory · structured relational schema vs flat embeddings (RQ1.4, RQ1.6)</a:t>
            </a:r>
          </a:p>
        </p:txBody>
      </p:sp>
      <p:sp>
        <p:nvSpPr>
          <p:cNvPr id="547" name="Shape 13"/>
          <p:cNvSpPr/>
          <p:nvPr/>
        </p:nvSpPr>
        <p:spPr>
          <a:xfrm>
            <a:off x="365759" y="2505455"/>
            <a:ext cx="8412482" cy="74981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8" name="Shape 14"/>
          <p:cNvSpPr/>
          <p:nvPr/>
        </p:nvSpPr>
        <p:spPr>
          <a:xfrm>
            <a:off x="365758" y="2505455"/>
            <a:ext cx="713235" cy="74981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1E88E5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</a:defRPr>
            </a:pPr>
          </a:p>
        </p:txBody>
      </p:sp>
      <p:sp>
        <p:nvSpPr>
          <p:cNvPr id="549" name="Text 15"/>
          <p:cNvSpPr txBox="1"/>
          <p:nvPr/>
        </p:nvSpPr>
        <p:spPr>
          <a:xfrm>
            <a:off x="365758" y="2759536"/>
            <a:ext cx="713235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550" name="Text 16"/>
          <p:cNvSpPr txBox="1"/>
          <p:nvPr/>
        </p:nvSpPr>
        <p:spPr>
          <a:xfrm>
            <a:off x="1170432" y="2680715"/>
            <a:ext cx="713232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Cloud Communication Efficiency</a:t>
            </a:r>
          </a:p>
        </p:txBody>
      </p:sp>
      <p:sp>
        <p:nvSpPr>
          <p:cNvPr id="551" name="Text 17"/>
          <p:cNvSpPr txBox="1"/>
          <p:nvPr/>
        </p:nvSpPr>
        <p:spPr>
          <a:xfrm>
            <a:off x="1170432" y="2929684"/>
            <a:ext cx="713232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LLMLingua: 16% token reduction · GPTCache eliminates redundant API calls · Groq for fast-turnaround agents (RQ1.7, RQ1.8)</a:t>
            </a:r>
          </a:p>
        </p:txBody>
      </p:sp>
      <p:sp>
        <p:nvSpPr>
          <p:cNvPr id="552" name="Shape 18"/>
          <p:cNvSpPr/>
          <p:nvPr/>
        </p:nvSpPr>
        <p:spPr>
          <a:xfrm>
            <a:off x="365759" y="3355847"/>
            <a:ext cx="8412482" cy="74981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3" name="Shape 19"/>
          <p:cNvSpPr/>
          <p:nvPr/>
        </p:nvSpPr>
        <p:spPr>
          <a:xfrm>
            <a:off x="365758" y="3355847"/>
            <a:ext cx="713235" cy="74981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277BD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</a:defRPr>
            </a:pPr>
          </a:p>
        </p:txBody>
      </p:sp>
      <p:sp>
        <p:nvSpPr>
          <p:cNvPr id="554" name="Text 20"/>
          <p:cNvSpPr txBox="1"/>
          <p:nvPr/>
        </p:nvSpPr>
        <p:spPr>
          <a:xfrm>
            <a:off x="365758" y="3609928"/>
            <a:ext cx="713235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555" name="Text 21"/>
          <p:cNvSpPr txBox="1"/>
          <p:nvPr/>
        </p:nvSpPr>
        <p:spPr>
          <a:xfrm>
            <a:off x="1170432" y="3501351"/>
            <a:ext cx="713232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Redundancy in Multi-Agent Systems</a:t>
            </a:r>
          </a:p>
        </p:txBody>
      </p:sp>
      <p:sp>
        <p:nvSpPr>
          <p:cNvPr id="556" name="Text 22"/>
          <p:cNvSpPr txBox="1"/>
          <p:nvPr/>
        </p:nvSpPr>
        <p:spPr>
          <a:xfrm>
            <a:off x="1170432" y="3760582"/>
            <a:ext cx="713232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GPTCache: early redundancy detection across agents (RQ2.2)</a:t>
            </a:r>
          </a:p>
        </p:txBody>
      </p:sp>
      <p:sp>
        <p:nvSpPr>
          <p:cNvPr id="557" name="Shape 23"/>
          <p:cNvSpPr/>
          <p:nvPr/>
        </p:nvSpPr>
        <p:spPr>
          <a:xfrm>
            <a:off x="365759" y="4206240"/>
            <a:ext cx="8412482" cy="74981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8" name="Shape 24"/>
          <p:cNvSpPr/>
          <p:nvPr/>
        </p:nvSpPr>
        <p:spPr>
          <a:xfrm>
            <a:off x="365758" y="4206240"/>
            <a:ext cx="713235" cy="74981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04D40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</a:defRPr>
            </a:pPr>
          </a:p>
        </p:txBody>
      </p:sp>
      <p:sp>
        <p:nvSpPr>
          <p:cNvPr id="559" name="Text 25"/>
          <p:cNvSpPr txBox="1"/>
          <p:nvPr/>
        </p:nvSpPr>
        <p:spPr>
          <a:xfrm>
            <a:off x="365758" y="4460319"/>
            <a:ext cx="713235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P5</a:t>
            </a:r>
          </a:p>
        </p:txBody>
      </p:sp>
      <p:sp>
        <p:nvSpPr>
          <p:cNvPr id="560" name="Text 26"/>
          <p:cNvSpPr txBox="1"/>
          <p:nvPr/>
        </p:nvSpPr>
        <p:spPr>
          <a:xfrm>
            <a:off x="1170432" y="4307585"/>
            <a:ext cx="713232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2">
                    <a:lumOff val="-8941"/>
                  </a:schemeClr>
                </a:solidFill>
              </a:defRPr>
            </a:lvl1pPr>
          </a:lstStyle>
          <a:p>
            <a:pPr/>
            <a:r>
              <a:t>Feedback-Driven Refinement</a:t>
            </a:r>
          </a:p>
        </p:txBody>
      </p:sp>
      <p:sp>
        <p:nvSpPr>
          <p:cNvPr id="561" name="Text 27"/>
          <p:cNvSpPr txBox="1"/>
          <p:nvPr/>
        </p:nvSpPr>
        <p:spPr>
          <a:xfrm>
            <a:off x="1170432" y="4591479"/>
            <a:ext cx="713232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1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Verible closed-loop repair: binary + structured + localised error signals · bounded iterations · context preserved · syntax decoupled from semantics (RQ3.1–3.3)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Off val="-8941"/>
            </a:schemeClr>
          </a:solidFill>
          <a:ln w="12700">
            <a:solidFill>
              <a:srgbClr val="0D2B52"/>
            </a:solidFill>
          </a:ln>
        </p:spPr>
        <p:txBody>
          <a:bodyPr lIns="0" tIns="0" rIns="0" bIns="0"/>
          <a:lstStyle/>
          <a:p>
            <a:pPr>
              <a:defRPr b="0" sz="1800">
                <a:solidFill>
                  <a:schemeClr val="accent2">
                    <a:lumOff val="-8941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4" name="Text 1"/>
          <p:cNvSpPr txBox="1"/>
          <p:nvPr/>
        </p:nvSpPr>
        <p:spPr>
          <a:xfrm>
            <a:off x="320040" y="201421"/>
            <a:ext cx="85039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Conclusion &amp; Future Work</a:t>
            </a:r>
          </a:p>
        </p:txBody>
      </p:sp>
      <p:sp>
        <p:nvSpPr>
          <p:cNvPr id="565" name="Shape 3"/>
          <p:cNvSpPr/>
          <p:nvPr/>
        </p:nvSpPr>
        <p:spPr>
          <a:xfrm>
            <a:off x="596558" y="1120366"/>
            <a:ext cx="7950884" cy="74981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6" name="Text 5"/>
          <p:cNvSpPr txBox="1"/>
          <p:nvPr/>
        </p:nvSpPr>
        <p:spPr>
          <a:xfrm>
            <a:off x="901359" y="1221713"/>
            <a:ext cx="72237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565C0"/>
                </a:solidFill>
              </a:defRPr>
            </a:lvl1pPr>
          </a:lstStyle>
          <a:p>
            <a:pPr/>
            <a:r>
              <a:t>Real LLM Repair Integration</a:t>
            </a:r>
          </a:p>
        </p:txBody>
      </p:sp>
      <p:sp>
        <p:nvSpPr>
          <p:cNvPr id="567" name="Text 6"/>
          <p:cNvSpPr txBox="1"/>
          <p:nvPr/>
        </p:nvSpPr>
        <p:spPr>
          <a:xfrm>
            <a:off x="901359" y="1576858"/>
            <a:ext cx="722376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Implement repair_sva_with_llm() with schema-constrained JSON output for systematic, parseable fix generation.</a:t>
            </a:r>
          </a:p>
        </p:txBody>
      </p:sp>
      <p:sp>
        <p:nvSpPr>
          <p:cNvPr id="568" name="Shape 7"/>
          <p:cNvSpPr/>
          <p:nvPr/>
        </p:nvSpPr>
        <p:spPr>
          <a:xfrm>
            <a:off x="596558" y="1970758"/>
            <a:ext cx="7950884" cy="74981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9" name="Text 9"/>
          <p:cNvSpPr txBox="1"/>
          <p:nvPr/>
        </p:nvSpPr>
        <p:spPr>
          <a:xfrm>
            <a:off x="901359" y="2072104"/>
            <a:ext cx="72237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565C0"/>
                </a:solidFill>
              </a:defRPr>
            </a:lvl1pPr>
          </a:lstStyle>
          <a:p>
            <a:pPr/>
            <a:r>
              <a:t>Semantic &amp; Formal Validation Stage</a:t>
            </a:r>
          </a:p>
        </p:txBody>
      </p:sp>
      <p:sp>
        <p:nvSpPr>
          <p:cNvPr id="570" name="Text 10"/>
          <p:cNvSpPr txBox="1"/>
          <p:nvPr/>
        </p:nvSpPr>
        <p:spPr>
          <a:xfrm>
            <a:off x="901359" y="2331999"/>
            <a:ext cx="722376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Add post-syntax validation: property equivalence checks, formal model-checking hooks (JasperGold), functional correctness beyond Verible.</a:t>
            </a:r>
          </a:p>
        </p:txBody>
      </p:sp>
      <p:sp>
        <p:nvSpPr>
          <p:cNvPr id="571" name="Shape 11"/>
          <p:cNvSpPr/>
          <p:nvPr/>
        </p:nvSpPr>
        <p:spPr>
          <a:xfrm>
            <a:off x="596558" y="2821151"/>
            <a:ext cx="7950884" cy="74981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2" name="Text 13"/>
          <p:cNvSpPr txBox="1"/>
          <p:nvPr/>
        </p:nvSpPr>
        <p:spPr>
          <a:xfrm>
            <a:off x="901359" y="2922496"/>
            <a:ext cx="72237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565C0"/>
                </a:solidFill>
              </a:defRPr>
            </a:lvl1pPr>
          </a:lstStyle>
          <a:p>
            <a:pPr/>
            <a:r>
              <a:t>Robust Signal Edge Materialization</a:t>
            </a:r>
          </a:p>
        </p:txBody>
      </p:sp>
      <p:sp>
        <p:nvSpPr>
          <p:cNvPr id="573" name="Text 14"/>
          <p:cNvSpPr txBox="1"/>
          <p:nvPr/>
        </p:nvSpPr>
        <p:spPr>
          <a:xfrm>
            <a:off x="901359" y="3182391"/>
            <a:ext cx="722376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Improve mention-matching robustness (fuzzy + semantic + edit-distance) for reliable corresponds_to edge creation even with naming noise.</a:t>
            </a:r>
          </a:p>
        </p:txBody>
      </p:sp>
      <p:sp>
        <p:nvSpPr>
          <p:cNvPr id="574" name="Shape 19"/>
          <p:cNvSpPr/>
          <p:nvPr/>
        </p:nvSpPr>
        <p:spPr>
          <a:xfrm>
            <a:off x="596558" y="3719093"/>
            <a:ext cx="7950884" cy="74981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  <a:effectLst>
            <a:outerShdw sx="100000" sy="100000" kx="0" ky="0" algn="b" rotWithShape="0" blurRad="76200" dist="38100" dir="8100000">
              <a:srgbClr val="000000">
                <a:alpha val="12000"/>
              </a:srgbClr>
            </a:outerShdw>
          </a:effectLst>
        </p:spPr>
        <p:txBody>
          <a:bodyPr lIns="0" tIns="0" rIns="0" bIns="0"/>
          <a:lstStyle/>
          <a:p>
            <a:pPr>
              <a:defRPr b="0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5" name="Text 21"/>
          <p:cNvSpPr txBox="1"/>
          <p:nvPr/>
        </p:nvSpPr>
        <p:spPr>
          <a:xfrm>
            <a:off x="901359" y="3820440"/>
            <a:ext cx="72237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565C0"/>
                </a:solidFill>
              </a:defRPr>
            </a:lvl1pPr>
          </a:lstStyle>
          <a:p>
            <a:pPr/>
            <a:r>
              <a:t>Benchmark Suite</a:t>
            </a:r>
          </a:p>
        </p:txBody>
      </p:sp>
      <p:sp>
        <p:nvSpPr>
          <p:cNvPr id="576" name="Text 22"/>
          <p:cNvSpPr txBox="1"/>
          <p:nvPr/>
        </p:nvSpPr>
        <p:spPr>
          <a:xfrm>
            <a:off x="901359" y="4080335"/>
            <a:ext cx="722376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0" sz="1200">
                <a:solidFill>
                  <a:srgbClr val="0A192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Quantitative evaluation: cost/latency/acceptance with vs without cache &amp; multiagent; SVA correctness (#SynC, #SemC) across real-world hardware designs.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Text 2"/>
          <p:cNvSpPr txBox="1"/>
          <p:nvPr/>
        </p:nvSpPr>
        <p:spPr>
          <a:xfrm>
            <a:off x="2994443" y="2170429"/>
            <a:ext cx="3155113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2A3990"/>
      </a:lt1>
      <a:dk2>
        <a:srgbClr val="A7A7A7"/>
      </a:dk2>
      <a:lt2>
        <a:srgbClr val="535353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0000FF"/>
      </a:hlink>
      <a:folHlink>
        <a:srgbClr val="FF00FF"/>
      </a:folHlink>
    </a:clrScheme>
    <a:fontScheme name="Geometric">
      <a:majorFont>
        <a:latin typeface="Helvetica"/>
        <a:ea typeface="Helvetica"/>
        <a:cs typeface="Helvetica"/>
      </a:majorFont>
      <a:minorFont>
        <a:latin typeface="Trebuchet MS"/>
        <a:ea typeface="Trebuchet MS"/>
        <a:cs typeface="Trebuchet MS"/>
      </a:minorFont>
    </a:fontScheme>
    <a:fmtScheme name="Geometr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2A399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1400" u="none" kumimoji="0" normalizeH="0">
            <a:ln>
              <a:noFill/>
            </a:ln>
            <a:solidFill>
              <a:srgbClr val="2A3990"/>
            </a:solidFill>
            <a:effectLst/>
            <a:uFillTx/>
            <a:latin typeface="+mn-lt"/>
            <a:ea typeface="+mn-ea"/>
            <a:cs typeface="+mn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1400" u="none" kumimoji="0" normalizeH="0">
            <a:ln>
              <a:noFill/>
            </a:ln>
            <a:solidFill>
              <a:srgbClr val="2A3990"/>
            </a:solidFill>
            <a:effectLst/>
            <a:uFillTx/>
            <a:latin typeface="+mn-lt"/>
            <a:ea typeface="+mn-ea"/>
            <a:cs typeface="+mn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0000FF"/>
      </a:hlink>
      <a:folHlink>
        <a:srgbClr val="FF00FF"/>
      </a:folHlink>
    </a:clrScheme>
    <a:fontScheme name="Geometric">
      <a:majorFont>
        <a:latin typeface="Helvetica"/>
        <a:ea typeface="Helvetica"/>
        <a:cs typeface="Helvetica"/>
      </a:majorFont>
      <a:minorFont>
        <a:latin typeface="Trebuchet MS"/>
        <a:ea typeface="Trebuchet MS"/>
        <a:cs typeface="Trebuchet MS"/>
      </a:minorFont>
    </a:fontScheme>
    <a:fmtScheme name="Geometr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2A399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1400" u="none" kumimoji="0" normalizeH="0">
            <a:ln>
              <a:noFill/>
            </a:ln>
            <a:solidFill>
              <a:srgbClr val="2A3990"/>
            </a:solidFill>
            <a:effectLst/>
            <a:uFillTx/>
            <a:latin typeface="+mn-lt"/>
            <a:ea typeface="+mn-ea"/>
            <a:cs typeface="+mn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1400" u="none" kumimoji="0" normalizeH="0">
            <a:ln>
              <a:noFill/>
            </a:ln>
            <a:solidFill>
              <a:srgbClr val="2A3990"/>
            </a:solidFill>
            <a:effectLst/>
            <a:uFillTx/>
            <a:latin typeface="+mn-lt"/>
            <a:ea typeface="+mn-ea"/>
            <a:cs typeface="+mn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